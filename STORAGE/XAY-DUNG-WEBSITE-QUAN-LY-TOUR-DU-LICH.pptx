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embeddedFontLst>
    <p:embeddedFont>
      <p:font typeface="Crimson Pro SemiBold"/>
      <p:regular r:id="rId201314"/>
    </p:embeddedFont>
    <p:embeddedFont>
      <p:font typeface="Crimson Pro Bold"/>
      <p:regular r:id="rId201315"/>
    </p:embeddedFont>
    <p:embeddedFont>
      <p:font typeface="Heebo"/>
      <p:regular r:id="rId201316"/>
    </p:embeddedFont>
    <p:embeddedFont>
      <p:font typeface="Heeb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Hội đồng. Hôm nay nhóm 10 xin trình bày đồ án Xây dựng Website Quản lý Tour Du lịch, một ứng dụng Frontend hoàn toàn bằng Vanilla JavaScript, không sử dụng bất kỳ framework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Bối cảnh của đồ án là nhu cầu thực tế về hệ thống đặt tour trực tuyến. Mục tiêu của nhóm là xây dựng một ứng dụng hoàn chỉnh với các tính năng từ đăng ký, tìm kiếm, đặt vé cho đến quản lý lịch sử, tất cả đều được xử lý ở phía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nghệ chúng tôi sử dụng là Vanilla JavaScript thuần, không có bất kỳ framework nào. Kiến trúc được thiết kế theo mô hình 5 tầng, từ dưới lên là Data, Storage, Service, Module, và UI. Mỗi tầng có trách nhiệm riêng, giúp code dễ bảo trì và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trúc thư mục phản ánh đúng kiến trúc 5 tầng. Luồng dữ liệu hoạt động như sau: khi người dùng tương tác, appState được cập nhật, sau đó các hàm render được gọi để cập nhật giao diện. appState là nguồn chân lý duy nhất, đảm bảo dữ liệu luôn nhất quán.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hệ thống gồm 3 phần chính. Phần Tour List cho phép người dùng tìm kiếm và lọc tour theo từ khóa, địa điểm, và giá. Phần Booking Form tính toán giá vé theo thời gian thực. Phần Login &amp; History quản lý tài khoản và lịch sử đặt 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Journey mô tả hành trình của người dùng từ khi là khách vãng lai cho đến khi hoàn tất đặt vé và xem lịch sử. Mỗi bước đều được thiết kế để mang lại trải nghiệm mượt mà và trực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Flow đảm bảo người dùng được xác thực trước khi truy cập. Booking Flow bao gồm 5 bước từ chọn tour đến lưu vé. Cả hai quy trình đều có validation để chặn dữ liệu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trúc file phản ánh đúng kiến trúc 5 tầng. Mỗi file đảm nhận một nhóm chức năng cụ thể. appState hoạt động như Redux nhưng tự viết bằng Vanilla JS thuần.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kỹ hơn về appState như một "Redux" mini tự xây dựng. Nhấn mạnh việc dữ liệu chỉ được thay đổi thông qua các hàm service để đảm bảo tính toàn vẹn. Khi appState thay đổi, các hàm render UI sẽ được gọi lại để cập nhật giao diện, tạo ra trải nghiệm người dùng mượt mà.
Có thể lấy ví dụ cụ thể như khi người dùng filter tour, appState.filter sẽ thay đổi, và hàm renderTours() sẽ được gọi lại với dữ liệu mới từ appState.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chi tiết luồng đặt vé, nhấn mạnh vào 4 giai đoạn chính: Tour (chọn tour), Booking (điền thông tin), Ticket (tạo vé với các ID liên quan), và Storage (lưu vào localStorage).
Đây là một luồng dữ liệu quan trọng, cho thấy cách thông tin được xử lý và lưu trữ một cách có cấu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là bước quan trọng để chặn dữ liệu lỗi trước khi lưu vào localStorage. Chúng tôi sử dụng Regex để kiểm tra email và phone, thay vì các phương pháp không chính xác. Data Flow thể hiện mối quan hệ giữa các bảng dữ liệu trong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Logic của hệ thống dựa trên các hàm Array ES6+ như map, filter, sort. Điểm nổi bật là mô phỏng JOIN SQL bằng Array.find() để truy vấn chéo giữa các bảng dữ liệu, thể hiện hiểu biết về Database dù đang code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của đồ án là một hệ thống Booking hoàn chỉnh với kiến trúc bài bản. Kịch bản demo sẽ trình bày từng bước: tạo tài khoản, tìm tour, đặt vé, và xem lịch sử. Tất cả đều hoạt động mượt mà trên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Ưu điểm chính của hệ thống là hiệu năng cao và kiến trúc bài bản. Nhược điểm hiện tại là chưa responsive, bảo mật yếu (mật khẩu plaintext), và XSS tiềm ẩn. Hướng phát triển tương lai là thêm Backend, Database, và Payment Gateway để trở thành ứng dụng Fullstack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Đến đây là kết thúc phần trình bày của nhóm. Đồ án là thành quả cố gắng lớn của toàn bộ nhóm, và chúng em xin cảm ơn sự hướng dẫn tận tình của thầy Hiếu và thầy Ngọc. Mã nguồn đầy đủ có sẵn trên GitHub. Chúng em xin kính mời Hội đồng đặt câu hỏi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slideLayout" Target="../slideLayouts/slideLayout3.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image" Target="../media/image-8-14.svg"/><Relationship Id="rId15" Type="http://schemas.openxmlformats.org/officeDocument/2006/relationships/image" Target="../media/image-8-15.png"/><Relationship Id="rId16" Type="http://schemas.openxmlformats.org/officeDocument/2006/relationships/image" Target="../media/image-8-16.svg"/><Relationship Id="rId17" Type="http://schemas.openxmlformats.org/officeDocument/2006/relationships/image" Target="../media/image-8-17.png"/><Relationship Id="rId18" Type="http://schemas.openxmlformats.org/officeDocument/2006/relationships/image" Target="../media/image-8-18.svg"/><Relationship Id="rId19" Type="http://schemas.openxmlformats.org/officeDocument/2006/relationships/image" Target="../media/image-8-19.png"/><Relationship Id="rId20" Type="http://schemas.openxmlformats.org/officeDocument/2006/relationships/image" Target="../media/image-8-20.svg"/><Relationship Id="rId21" Type="http://schemas.openxmlformats.org/officeDocument/2006/relationships/image" Target="../media/image-8-21.png"/><Relationship Id="rId22" Type="http://schemas.openxmlformats.org/officeDocument/2006/relationships/slideLayout" Target="../slideLayouts/slideLayout3.xml"/><Relationship Id="rId2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slideLayout" Target="../slideLayouts/slideLayout3.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nhduc555/TOUR-TRAVEL-MANAGEMENT" TargetMode="External"/><Relationship Id="rId1" Type="http://schemas.openxmlformats.org/officeDocument/2006/relationships/image" Target="../media/image-15-1.png"/><Relationship Id="rId2" Type="http://schemas.openxmlformats.org/officeDocument/2006/relationships/image" Target="../media/image-15-2.svg"/><Relationship Id="rId4" Type="http://schemas.openxmlformats.org/officeDocument/2006/relationships/image" Target="../media/image-15-3.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86120" y="684510"/>
            <a:ext cx="10019454" cy="1251843"/>
          </a:xfrm>
          <a:prstGeom prst="rect">
            <a:avLst/>
          </a:prstGeom>
          <a:noFill/>
          <a:ln/>
        </p:spPr>
        <p:txBody>
          <a:bodyPr wrap="square" lIns="0" tIns="0" rIns="0" bIns="0" rtlCol="0" anchor="t">
            <a:normAutofit/>
          </a:bodyPr>
          <a:lstStyle/>
          <a:p>
            <a:pPr algn="l" indent="0" marL="0">
              <a:lnSpc>
                <a:spcPct val="128000"/>
              </a:lnSpc>
              <a:spcAft>
                <a:spcPts val="5600"/>
              </a:spcAft>
              <a:buNone/>
            </a:pPr>
            <a:endParaRPr lang="en-US" sz="1350" dirty="0"/>
          </a:p>
        </p:txBody>
      </p:sp>
      <p:sp>
        <p:nvSpPr>
          <p:cNvPr id="3" name="Shape 1"/>
          <p:cNvSpPr/>
          <p:nvPr/>
        </p:nvSpPr>
        <p:spPr>
          <a:xfrm>
            <a:off x="1086120" y="2117030"/>
            <a:ext cx="3511760" cy="331391"/>
          </a:xfrm>
          <a:prstGeom prst="roundRect">
            <a:avLst>
              <a:gd name="adj" fmla="val 6310"/>
            </a:avLst>
          </a:prstGeom>
          <a:noFill/>
          <a:ln w="6350">
            <a:solidFill>
              <a:srgbClr val="F4444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6945" y="2212975"/>
            <a:ext cx="139399" cy="139402"/>
          </a:xfrm>
          <a:prstGeom prst="rect">
            <a:avLst/>
          </a:prstGeom>
        </p:spPr>
      </p:pic>
      <p:sp>
        <p:nvSpPr>
          <p:cNvPr id="5" name="Text 2"/>
          <p:cNvSpPr/>
          <p:nvPr/>
        </p:nvSpPr>
        <p:spPr>
          <a:xfrm>
            <a:off x="1405994" y="2175570"/>
            <a:ext cx="3690647" cy="214313"/>
          </a:xfrm>
          <a:prstGeom prst="rect">
            <a:avLst/>
          </a:prstGeom>
          <a:noFill/>
          <a:ln/>
        </p:spPr>
        <p:txBody>
          <a:bodyPr wrap="none" lIns="0" tIns="0" rIns="0" bIns="0" rtlCol="0" anchor="t"/>
          <a:lstStyle/>
          <a:p>
            <a:pPr algn="l" indent="0" marL="0">
              <a:lnSpc>
                <a:spcPct val="128000"/>
              </a:lnSpc>
              <a:buNone/>
            </a:pPr>
            <a:r>
              <a:rPr lang="en-US" sz="1050" dirty="0">
                <a:solidFill>
                  <a:srgbClr val="F44444"/>
                </a:solidFill>
                <a:latin typeface="Heebo" pitchFamily="34" charset="0"/>
                <a:ea typeface="Heebo" pitchFamily="34" charset="-122"/>
                <a:cs typeface="Heebo" pitchFamily="34" charset="-120"/>
              </a:rPr>
              <a:t>HỌC VIỆN CÔNG NGHỆ BƯU CHÍNH VIỄN THÔNG</a:t>
            </a:r>
            <a:endParaRPr lang="en-US" sz="1050" dirty="0"/>
          </a:p>
        </p:txBody>
      </p:sp>
      <p:sp>
        <p:nvSpPr>
          <p:cNvPr id="6" name="Text 3"/>
          <p:cNvSpPr/>
          <p:nvPr/>
        </p:nvSpPr>
        <p:spPr>
          <a:xfrm>
            <a:off x="1086120" y="2512616"/>
            <a:ext cx="6203100" cy="1502767"/>
          </a:xfrm>
          <a:prstGeom prst="rect">
            <a:avLst/>
          </a:prstGeom>
          <a:noFill/>
          <a:ln/>
        </p:spPr>
        <p:txBody>
          <a:bodyPr wrap="square" lIns="0" tIns="0" rIns="0" bIns="0" rtlCol="0" anchor="t">
            <a:normAutofit/>
          </a:bodyPr>
          <a:lstStyle/>
          <a:p>
            <a:pPr algn="l" indent="0" marL="0">
              <a:lnSpc>
                <a:spcPct val="104000"/>
              </a:lnSpc>
              <a:buNone/>
            </a:pPr>
            <a:r>
              <a:rPr lang="en-US" sz="4700" dirty="0">
                <a:solidFill>
                  <a:srgbClr val="152D47"/>
                </a:solidFill>
                <a:latin typeface="Crimson Pro SemiBold" pitchFamily="34" charset="0"/>
                <a:ea typeface="Crimson Pro SemiBold" pitchFamily="34" charset="-122"/>
                <a:cs typeface="Crimson Pro SemiBold" pitchFamily="34" charset="-120"/>
              </a:rPr>
              <a:t>XÂY DỰNG WEBSITE</a:t>
            </a:r>
            <a:endParaRPr lang="en-US" sz="4700" dirty="0"/>
          </a:p>
          <a:p>
            <a:pPr algn="l" indent="0" marL="0">
              <a:lnSpc>
                <a:spcPct val="104000"/>
              </a:lnSpc>
              <a:buNone/>
            </a:pPr>
            <a:r>
              <a:rPr lang="en-US" sz="4700" dirty="0">
                <a:solidFill>
                  <a:srgbClr val="152D47"/>
                </a:solidFill>
                <a:latin typeface="Crimson Pro SemiBold" pitchFamily="34" charset="0"/>
                <a:ea typeface="Crimson Pro SemiBold" pitchFamily="34" charset="-122"/>
                <a:cs typeface="Crimson Pro SemiBold" pitchFamily="34" charset="-120"/>
              </a:rPr>
              <a:t>QUẢN LÝ TOUR DU LỊCH</a:t>
            </a:r>
            <a:endParaRPr lang="en-US" sz="4700" dirty="0"/>
          </a:p>
        </p:txBody>
      </p:sp>
      <p:sp>
        <p:nvSpPr>
          <p:cNvPr id="7" name="Text 4"/>
          <p:cNvSpPr/>
          <p:nvPr/>
        </p:nvSpPr>
        <p:spPr>
          <a:xfrm>
            <a:off x="1086120" y="4256286"/>
            <a:ext cx="10019454" cy="2061666"/>
          </a:xfrm>
          <a:prstGeom prst="rect">
            <a:avLst/>
          </a:prstGeom>
          <a:noFill/>
          <a:ln/>
        </p:spPr>
        <p:txBody>
          <a:bodyPr wrap="square" lIns="0" tIns="0" rIns="0" bIns="0" rtlCol="0" anchor="t"/>
          <a:lstStyle/>
          <a:p>
            <a:pPr algn="l" indent="0" marL="0">
              <a:lnSpc>
                <a:spcPct val="128000"/>
              </a:lnSpc>
              <a:spcAft>
                <a:spcPts val="1400"/>
              </a:spcAft>
              <a:buNone/>
            </a:pPr>
            <a:r>
              <a:rPr lang="en-US" sz="1350" dirty="0">
                <a:solidFill>
                  <a:srgbClr val="F2F2F2"/>
                </a:solidFill>
                <a:latin typeface="Heebo" pitchFamily="34" charset="0"/>
                <a:ea typeface="Heebo" pitchFamily="34" charset="-122"/>
                <a:cs typeface="Heebo" pitchFamily="34" charset="-120"/>
              </a:rPr>
              <a:t>Travel Tour Management Website</a:t>
            </a:r>
            <a:endParaRPr lang="en-US" sz="1350" dirty="0"/>
          </a:p>
          <a:p>
            <a:pPr algn="l" indent="0" marL="0">
              <a:lnSpc>
                <a:spcPct val="128000"/>
              </a:lnSpc>
              <a:spcAft>
                <a:spcPts val="1400"/>
              </a:spcAft>
              <a:buNone/>
            </a:pPr>
            <a:r>
              <a:rPr lang="en-US" sz="1350" dirty="0">
                <a:solidFill>
                  <a:srgbClr val="B8BDC2"/>
                </a:solidFill>
                <a:latin typeface="Heebo" pitchFamily="34" charset="0"/>
                <a:ea typeface="Heebo" pitchFamily="34" charset="-122"/>
                <a:cs typeface="Heebo" pitchFamily="34" charset="-120"/>
              </a:rPr>
              <a:t>Vanilla JavaScript | Frontend Only | localStorage</a:t>
            </a:r>
            <a:endParaRPr lang="en-US" sz="1350" dirty="0"/>
          </a:p>
          <a:p>
            <a:pPr algn="l" indent="0" marL="0">
              <a:lnSpc>
                <a:spcPct val="128000"/>
              </a:lnSpc>
              <a:spcAft>
                <a:spcPts val="1400"/>
              </a:spcAft>
              <a:buNone/>
            </a:pPr>
            <a:r>
              <a:rPr lang="en-US" sz="1350" dirty="0">
                <a:solidFill>
                  <a:srgbClr val="F2F2F2"/>
                </a:solidFill>
                <a:latin typeface="Heebo" pitchFamily="34" charset="0"/>
                <a:ea typeface="Heebo" pitchFamily="34" charset="-122"/>
                <a:cs typeface="Heebo" pitchFamily="34" charset="-120"/>
              </a:rPr>
              <a:t>Lê Anh Đức · Trần Lê Khoa · Vũ Đức Kiên</a:t>
            </a:r>
            <a:endParaRPr lang="en-US" sz="1350" dirty="0"/>
          </a:p>
          <a:p>
            <a:pPr algn="l" indent="0" marL="0">
              <a:lnSpc>
                <a:spcPct val="128000"/>
              </a:lnSpc>
              <a:spcAft>
                <a:spcPts val="1400"/>
              </a:spcAft>
              <a:buNone/>
            </a:pPr>
            <a:r>
              <a:rPr lang="en-US" sz="1350" dirty="0">
                <a:solidFill>
                  <a:srgbClr val="B8BDC2"/>
                </a:solidFill>
                <a:latin typeface="Heebo" pitchFamily="34" charset="0"/>
                <a:ea typeface="Heebo" pitchFamily="34" charset="-122"/>
                <a:cs typeface="Heebo" pitchFamily="34" charset="-120"/>
              </a:rPr>
              <a:t>Giảng viên hướng dẫn: Trần Minh Hiếu · Bùi Khắc Ngọc</a:t>
            </a:r>
            <a:endParaRPr lang="en-US" sz="1350" dirty="0"/>
          </a:p>
          <a:p>
            <a:pPr algn="l" indent="0" marL="0">
              <a:lnSpc>
                <a:spcPct val="128000"/>
              </a:lnSpc>
              <a:buNone/>
            </a:pPr>
            <a:r>
              <a:rPr lang="en-US" sz="1350" dirty="0">
                <a:solidFill>
                  <a:srgbClr val="F2F2F2"/>
                </a:solidFill>
                <a:latin typeface="Heebo" pitchFamily="34" charset="0"/>
                <a:ea typeface="Heebo" pitchFamily="34" charset="-122"/>
                <a:cs typeface="Heebo" pitchFamily="34" charset="-120"/>
              </a:rPr>
              <a:t>Tháng 6/2026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7619809" y="0"/>
            <a:ext cx="4571886" cy="68580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7619809" y="0"/>
            <a:ext cx="4571886" cy="6858000"/>
          </a:xfrm>
          <a:prstGeom prst="rect">
            <a:avLst/>
          </a:prstGeom>
        </p:spPr>
      </p:pic>
      <p:sp>
        <p:nvSpPr>
          <p:cNvPr id="5" name="Shape 1"/>
          <p:cNvSpPr/>
          <p:nvPr/>
        </p:nvSpPr>
        <p:spPr>
          <a:xfrm>
            <a:off x="661475" y="822623"/>
            <a:ext cx="1430103" cy="277515"/>
          </a:xfrm>
          <a:prstGeom prst="roundRect">
            <a:avLst>
              <a:gd name="adj" fmla="val 6539"/>
            </a:avLst>
          </a:prstGeom>
          <a:noFill/>
          <a:ln w="6350">
            <a:solidFill>
              <a:srgbClr val="2150FE"/>
            </a:solidFill>
            <a:prstDash val="solid"/>
          </a:ln>
        </p:spPr>
      </p:sp>
      <p:sp>
        <p:nvSpPr>
          <p:cNvPr id="6" name="Text 2"/>
          <p:cNvSpPr/>
          <p:nvPr/>
        </p:nvSpPr>
        <p:spPr>
          <a:xfrm>
            <a:off x="758508" y="874316"/>
            <a:ext cx="1845621" cy="174129"/>
          </a:xfrm>
          <a:prstGeom prst="rect">
            <a:avLst/>
          </a:prstGeom>
          <a:noFill/>
          <a:ln/>
        </p:spPr>
        <p:txBody>
          <a:bodyPr wrap="none" lIns="0" tIns="0" rIns="0" bIns="0" rtlCol="0" anchor="t"/>
          <a:lstStyle/>
          <a:p>
            <a:pPr algn="l" indent="0" marL="0">
              <a:lnSpc>
                <a:spcPct val="120000"/>
              </a:lnSpc>
              <a:buNone/>
            </a:pPr>
            <a:r>
              <a:rPr lang="en-US" sz="950" dirty="0">
                <a:solidFill>
                  <a:srgbClr val="2150FE"/>
                </a:solidFill>
                <a:latin typeface="Heebo" pitchFamily="34" charset="0"/>
                <a:ea typeface="Heebo" pitchFamily="34" charset="-122"/>
                <a:cs typeface="Heebo" pitchFamily="34" charset="-120"/>
              </a:rPr>
              <a:t>BỐI CẢNH &amp; MỤC TIÊU</a:t>
            </a:r>
            <a:endParaRPr lang="en-US" sz="950" dirty="0"/>
          </a:p>
        </p:txBody>
      </p:sp>
      <p:sp>
        <p:nvSpPr>
          <p:cNvPr id="7" name="Text 3"/>
          <p:cNvSpPr/>
          <p:nvPr/>
        </p:nvSpPr>
        <p:spPr>
          <a:xfrm>
            <a:off x="661475" y="1148457"/>
            <a:ext cx="4389923" cy="472480"/>
          </a:xfrm>
          <a:prstGeom prst="rect">
            <a:avLst/>
          </a:prstGeom>
          <a:noFill/>
          <a:ln/>
        </p:spPr>
        <p:txBody>
          <a:bodyPr wrap="none" lIns="0" tIns="0" rIns="0" bIns="0" rtlCol="0" anchor="t"/>
          <a:lstStyle/>
          <a:p>
            <a:pPr algn="l" indent="0" marL="0">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Bối Cảnh &amp; Mục Tiêu</a:t>
            </a:r>
            <a:endParaRPr lang="en-US" sz="2950" dirty="0"/>
          </a:p>
        </p:txBody>
      </p:sp>
      <p:sp>
        <p:nvSpPr>
          <p:cNvPr id="8" name="Text 4"/>
          <p:cNvSpPr/>
          <p:nvPr/>
        </p:nvSpPr>
        <p:spPr>
          <a:xfrm>
            <a:off x="661475" y="1923256"/>
            <a:ext cx="2499754" cy="236240"/>
          </a:xfrm>
          <a:prstGeom prst="rect">
            <a:avLst/>
          </a:prstGeom>
          <a:noFill/>
          <a:ln/>
        </p:spPr>
        <p:txBody>
          <a:bodyPr wrap="none" lIns="0" tIns="0" rIns="0" bIns="0" rtlCol="0" anchor="t"/>
          <a:lstStyle/>
          <a:p>
            <a:pPr algn="l" indent="0" marL="0">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Bối Cảnh</a:t>
            </a:r>
            <a:endParaRPr lang="en-US" sz="1450" dirty="0"/>
          </a:p>
        </p:txBody>
      </p:sp>
      <p:pic>
        <p:nvPicPr>
          <p:cNvPr id="9"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127" y="2303016"/>
            <a:ext cx="226808" cy="226814"/>
          </a:xfrm>
          <a:prstGeom prst="rect">
            <a:avLst/>
          </a:prstGeom>
        </p:spPr>
      </p:pic>
      <p:sp>
        <p:nvSpPr>
          <p:cNvPr id="10" name="Text 5"/>
          <p:cNvSpPr/>
          <p:nvPr/>
        </p:nvSpPr>
        <p:spPr>
          <a:xfrm>
            <a:off x="1152893" y="2295525"/>
            <a:ext cx="2472569"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Nhu cầu đặt tour trực tuyến tăng cao</a:t>
            </a:r>
            <a:endParaRPr lang="en-US" sz="1150" dirty="0"/>
          </a:p>
        </p:txBody>
      </p:sp>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8127" y="3006080"/>
            <a:ext cx="226808" cy="226814"/>
          </a:xfrm>
          <a:prstGeom prst="rect">
            <a:avLst/>
          </a:prstGeom>
        </p:spPr>
      </p:pic>
      <p:sp>
        <p:nvSpPr>
          <p:cNvPr id="12" name="Text 6"/>
          <p:cNvSpPr/>
          <p:nvPr/>
        </p:nvSpPr>
        <p:spPr>
          <a:xfrm>
            <a:off x="1152893" y="2998589"/>
            <a:ext cx="247256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Cần công cụ tìm kiếm &amp; đặt vé tiện lợi</a:t>
            </a:r>
            <a:endParaRPr lang="en-US" sz="1150" dirty="0"/>
          </a:p>
        </p:txBody>
      </p:sp>
      <p:pic>
        <p:nvPicPr>
          <p:cNvPr id="13"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8127" y="3709144"/>
            <a:ext cx="226808" cy="226814"/>
          </a:xfrm>
          <a:prstGeom prst="rect">
            <a:avLst/>
          </a:prstGeom>
        </p:spPr>
      </p:pic>
      <p:sp>
        <p:nvSpPr>
          <p:cNvPr id="14" name="Text 7"/>
          <p:cNvSpPr/>
          <p:nvPr/>
        </p:nvSpPr>
        <p:spPr>
          <a:xfrm>
            <a:off x="1152893" y="3701653"/>
            <a:ext cx="247256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Ứng dụng thực tiễn cho môn Lập trình JavaScript</a:t>
            </a:r>
            <a:endParaRPr lang="en-US" sz="1150" dirty="0"/>
          </a:p>
        </p:txBody>
      </p:sp>
      <p:sp>
        <p:nvSpPr>
          <p:cNvPr id="15" name="Text 8"/>
          <p:cNvSpPr/>
          <p:nvPr/>
        </p:nvSpPr>
        <p:spPr>
          <a:xfrm>
            <a:off x="4000698" y="1923256"/>
            <a:ext cx="2499754" cy="236240"/>
          </a:xfrm>
          <a:prstGeom prst="rect">
            <a:avLst/>
          </a:prstGeom>
          <a:noFill/>
          <a:ln/>
        </p:spPr>
        <p:txBody>
          <a:bodyPr wrap="none" lIns="0" tIns="0" rIns="0" bIns="0" rtlCol="0" anchor="t"/>
          <a:lstStyle/>
          <a:p>
            <a:pPr algn="l" indent="0" marL="0">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Mục Tiêu</a:t>
            </a:r>
            <a:endParaRPr lang="en-US" sz="1450" dirty="0"/>
          </a:p>
        </p:txBody>
      </p:sp>
      <p:pic>
        <p:nvPicPr>
          <p:cNvPr id="1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81648" y="2295525"/>
            <a:ext cx="2983036" cy="812998"/>
          </a:xfrm>
          <a:prstGeom prst="rect">
            <a:avLst/>
          </a:prstGeom>
        </p:spPr>
      </p:pic>
      <p:sp>
        <p:nvSpPr>
          <p:cNvPr id="17" name="Text 9"/>
          <p:cNvSpPr/>
          <p:nvPr/>
        </p:nvSpPr>
        <p:spPr>
          <a:xfrm>
            <a:off x="4228101" y="2465784"/>
            <a:ext cx="2566328" cy="472480"/>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Xây dựng hệ thống Đăng ký / Đăng nhập</a:t>
            </a:r>
            <a:endParaRPr lang="en-US" sz="1450" dirty="0"/>
          </a:p>
        </p:txBody>
      </p:sp>
      <p:pic>
        <p:nvPicPr>
          <p:cNvPr id="18"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81648" y="3229471"/>
            <a:ext cx="2983036" cy="576759"/>
          </a:xfrm>
          <a:prstGeom prst="rect">
            <a:avLst/>
          </a:prstGeom>
        </p:spPr>
      </p:pic>
      <p:sp>
        <p:nvSpPr>
          <p:cNvPr id="19" name="Text 10"/>
          <p:cNvSpPr/>
          <p:nvPr/>
        </p:nvSpPr>
        <p:spPr>
          <a:xfrm>
            <a:off x="4228101" y="3399730"/>
            <a:ext cx="2554224"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Tìm kiếm &amp; lọc tour đa điều kiện</a:t>
            </a:r>
            <a:endParaRPr lang="en-US" sz="1450" dirty="0"/>
          </a:p>
        </p:txBody>
      </p:sp>
      <p:pic>
        <p:nvPicPr>
          <p:cNvPr id="20"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81648" y="3927177"/>
            <a:ext cx="2983036" cy="576759"/>
          </a:xfrm>
          <a:prstGeom prst="rect">
            <a:avLst/>
          </a:prstGeom>
        </p:spPr>
      </p:pic>
      <p:sp>
        <p:nvSpPr>
          <p:cNvPr id="21" name="Text 11"/>
          <p:cNvSpPr/>
          <p:nvPr/>
        </p:nvSpPr>
        <p:spPr>
          <a:xfrm>
            <a:off x="4228101" y="4097437"/>
            <a:ext cx="1980456"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Tính toán chi phí tự động</a:t>
            </a:r>
            <a:endParaRPr lang="en-US" sz="1450" dirty="0"/>
          </a:p>
        </p:txBody>
      </p:sp>
      <p:pic>
        <p:nvPicPr>
          <p:cNvPr id="22"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981648" y="4624884"/>
            <a:ext cx="2983036" cy="576759"/>
          </a:xfrm>
          <a:prstGeom prst="rect">
            <a:avLst/>
          </a:prstGeom>
        </p:spPr>
      </p:pic>
      <p:sp>
        <p:nvSpPr>
          <p:cNvPr id="23" name="Text 12"/>
          <p:cNvSpPr/>
          <p:nvPr/>
        </p:nvSpPr>
        <p:spPr>
          <a:xfrm>
            <a:off x="4228101" y="4795143"/>
            <a:ext cx="2308465"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Quản lý lịch sử đặt vé cá nhân</a:t>
            </a:r>
            <a:endParaRPr lang="en-US" sz="1450" dirty="0"/>
          </a:p>
        </p:txBody>
      </p:sp>
      <p:pic>
        <p:nvPicPr>
          <p:cNvPr id="24" name="Image 9"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981648" y="5322590"/>
            <a:ext cx="2983036" cy="576759"/>
          </a:xfrm>
          <a:prstGeom prst="rect">
            <a:avLst/>
          </a:prstGeom>
        </p:spPr>
      </p:pic>
      <p:sp>
        <p:nvSpPr>
          <p:cNvPr id="25" name="Text 13"/>
          <p:cNvSpPr/>
          <p:nvPr/>
        </p:nvSpPr>
        <p:spPr>
          <a:xfrm>
            <a:off x="4228101" y="5492849"/>
            <a:ext cx="2315112"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Kiến trúc phân tầng (5 layers)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574" y="825202"/>
            <a:ext cx="1306877" cy="216098"/>
          </a:xfrm>
          <a:prstGeom prst="roundRect">
            <a:avLst>
              <a:gd name="adj" fmla="val 6823"/>
            </a:avLst>
          </a:prstGeom>
          <a:noFill/>
          <a:ln w="6350">
            <a:solidFill>
              <a:srgbClr val="2150FE"/>
            </a:solidFill>
            <a:prstDash val="solid"/>
          </a:ln>
        </p:spPr>
      </p:sp>
      <p:sp>
        <p:nvSpPr>
          <p:cNvPr id="3" name="Text 1"/>
          <p:cNvSpPr/>
          <p:nvPr/>
        </p:nvSpPr>
        <p:spPr>
          <a:xfrm>
            <a:off x="741542" y="868362"/>
            <a:ext cx="1756525" cy="129778"/>
          </a:xfrm>
          <a:prstGeom prst="rect">
            <a:avLst/>
          </a:prstGeom>
          <a:noFill/>
          <a:ln/>
        </p:spPr>
        <p:txBody>
          <a:bodyPr wrap="none" lIns="0" tIns="0" rIns="0" bIns="0" rtlCol="0" anchor="t"/>
          <a:lstStyle/>
          <a:p>
            <a:pPr algn="l" indent="0" marL="0">
              <a:lnSpc>
                <a:spcPct val="110000"/>
              </a:lnSpc>
              <a:buNone/>
            </a:pPr>
            <a:r>
              <a:rPr lang="en-US" sz="750" dirty="0">
                <a:solidFill>
                  <a:srgbClr val="2150FE"/>
                </a:solidFill>
                <a:latin typeface="Heebo" pitchFamily="34" charset="0"/>
                <a:ea typeface="Heebo" pitchFamily="34" charset="-122"/>
                <a:cs typeface="Heebo" pitchFamily="34" charset="-120"/>
              </a:rPr>
              <a:t>CÔNG NGHỆ &amp; KIẾN TRÚC</a:t>
            </a:r>
            <a:endParaRPr lang="en-US" sz="750" dirty="0"/>
          </a:p>
        </p:txBody>
      </p:sp>
      <p:sp>
        <p:nvSpPr>
          <p:cNvPr id="4" name="Text 2"/>
          <p:cNvSpPr/>
          <p:nvPr/>
        </p:nvSpPr>
        <p:spPr>
          <a:xfrm>
            <a:off x="661574" y="1073150"/>
            <a:ext cx="4487353" cy="383977"/>
          </a:xfrm>
          <a:prstGeom prst="rect">
            <a:avLst/>
          </a:prstGeom>
          <a:noFill/>
          <a:ln/>
        </p:spPr>
        <p:txBody>
          <a:bodyPr wrap="none" lIns="0" tIns="0" rIns="0" bIns="0" rtlCol="0" anchor="t"/>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Công Nghệ &amp; Kiến Trúc 5 Tầng</a:t>
            </a:r>
            <a:endParaRPr lang="en-US" sz="2400" dirty="0"/>
          </a:p>
        </p:txBody>
      </p:sp>
      <p:sp>
        <p:nvSpPr>
          <p:cNvPr id="5" name="Text 3"/>
          <p:cNvSpPr/>
          <p:nvPr/>
        </p:nvSpPr>
        <p:spPr>
          <a:xfrm>
            <a:off x="661574" y="1656655"/>
            <a:ext cx="2145353"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Technology Stack</a:t>
            </a:r>
            <a:endParaRPr lang="en-US" sz="1200" dirty="0"/>
          </a:p>
        </p:txBody>
      </p:sp>
      <p:sp>
        <p:nvSpPr>
          <p:cNvPr id="6" name="Shape 4"/>
          <p:cNvSpPr/>
          <p:nvPr/>
        </p:nvSpPr>
        <p:spPr>
          <a:xfrm>
            <a:off x="661574" y="1938437"/>
            <a:ext cx="2602343" cy="1127820"/>
          </a:xfrm>
          <a:prstGeom prst="roundRect">
            <a:avLst>
              <a:gd name="adj" fmla="val 1634"/>
            </a:avLst>
          </a:prstGeom>
          <a:solidFill>
            <a:srgbClr val="F2EEEE"/>
          </a:solidFill>
          <a:ln/>
        </p:spPr>
      </p:sp>
      <p:sp>
        <p:nvSpPr>
          <p:cNvPr id="7" name="Shape 5"/>
          <p:cNvSpPr/>
          <p:nvPr/>
        </p:nvSpPr>
        <p:spPr>
          <a:xfrm>
            <a:off x="784404" y="2061270"/>
            <a:ext cx="368489" cy="368498"/>
          </a:xfrm>
          <a:prstGeom prst="roundRect">
            <a:avLst>
              <a:gd name="adj" fmla="val 20676459"/>
            </a:avLst>
          </a:prstGeom>
          <a:solidFill>
            <a:srgbClr val="2150F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5704" y="2162572"/>
            <a:ext cx="165790" cy="165795"/>
          </a:xfrm>
          <a:prstGeom prst="rect">
            <a:avLst/>
          </a:prstGeom>
        </p:spPr>
      </p:pic>
      <p:sp>
        <p:nvSpPr>
          <p:cNvPr id="9" name="Text 6"/>
          <p:cNvSpPr/>
          <p:nvPr/>
        </p:nvSpPr>
        <p:spPr>
          <a:xfrm>
            <a:off x="784404" y="2509540"/>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HTML5 &amp; CSS3</a:t>
            </a:r>
            <a:endParaRPr lang="en-US" sz="1200" dirty="0"/>
          </a:p>
        </p:txBody>
      </p:sp>
      <p:sp>
        <p:nvSpPr>
          <p:cNvPr id="10" name="Text 7"/>
          <p:cNvSpPr/>
          <p:nvPr/>
        </p:nvSpPr>
        <p:spPr>
          <a:xfrm>
            <a:off x="784404" y="2781300"/>
            <a:ext cx="2356684" cy="1621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Responsive Layout</a:t>
            </a:r>
            <a:endParaRPr lang="en-US" sz="950" dirty="0"/>
          </a:p>
        </p:txBody>
      </p:sp>
      <p:sp>
        <p:nvSpPr>
          <p:cNvPr id="11" name="Shape 8"/>
          <p:cNvSpPr/>
          <p:nvPr/>
        </p:nvSpPr>
        <p:spPr>
          <a:xfrm>
            <a:off x="3343687" y="1938437"/>
            <a:ext cx="2602343" cy="1127820"/>
          </a:xfrm>
          <a:prstGeom prst="roundRect">
            <a:avLst>
              <a:gd name="adj" fmla="val 1634"/>
            </a:avLst>
          </a:prstGeom>
          <a:solidFill>
            <a:srgbClr val="F2EEEE"/>
          </a:solidFill>
          <a:ln/>
        </p:spPr>
      </p:sp>
      <p:sp>
        <p:nvSpPr>
          <p:cNvPr id="12" name="Shape 9"/>
          <p:cNvSpPr/>
          <p:nvPr/>
        </p:nvSpPr>
        <p:spPr>
          <a:xfrm>
            <a:off x="3466517" y="2061270"/>
            <a:ext cx="368489" cy="368498"/>
          </a:xfrm>
          <a:prstGeom prst="roundRect">
            <a:avLst>
              <a:gd name="adj" fmla="val 20676459"/>
            </a:avLst>
          </a:prstGeom>
          <a:solidFill>
            <a:srgbClr val="2150F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7817" y="2162572"/>
            <a:ext cx="165790" cy="165795"/>
          </a:xfrm>
          <a:prstGeom prst="rect">
            <a:avLst/>
          </a:prstGeom>
        </p:spPr>
      </p:pic>
      <p:sp>
        <p:nvSpPr>
          <p:cNvPr id="14" name="Text 10"/>
          <p:cNvSpPr/>
          <p:nvPr/>
        </p:nvSpPr>
        <p:spPr>
          <a:xfrm>
            <a:off x="3466517" y="2509540"/>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Vanilla JavaScript ES6+</a:t>
            </a:r>
            <a:endParaRPr lang="en-US" sz="1200" dirty="0"/>
          </a:p>
        </p:txBody>
      </p:sp>
      <p:sp>
        <p:nvSpPr>
          <p:cNvPr id="15" name="Text 11"/>
          <p:cNvSpPr/>
          <p:nvPr/>
        </p:nvSpPr>
        <p:spPr>
          <a:xfrm>
            <a:off x="3466517" y="2781300"/>
            <a:ext cx="2356684" cy="1621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Zero Framework</a:t>
            </a:r>
            <a:endParaRPr lang="en-US" sz="950" dirty="0"/>
          </a:p>
        </p:txBody>
      </p:sp>
      <p:sp>
        <p:nvSpPr>
          <p:cNvPr id="16" name="Shape 12"/>
          <p:cNvSpPr/>
          <p:nvPr/>
        </p:nvSpPr>
        <p:spPr>
          <a:xfrm>
            <a:off x="661574" y="3146028"/>
            <a:ext cx="5284457" cy="1140520"/>
          </a:xfrm>
          <a:prstGeom prst="roundRect">
            <a:avLst>
              <a:gd name="adj" fmla="val 1616"/>
            </a:avLst>
          </a:prstGeom>
          <a:solidFill>
            <a:srgbClr val="F2EEEE"/>
          </a:solidFill>
          <a:ln/>
        </p:spPr>
      </p:sp>
      <p:sp>
        <p:nvSpPr>
          <p:cNvPr id="17" name="Shape 13"/>
          <p:cNvSpPr/>
          <p:nvPr/>
        </p:nvSpPr>
        <p:spPr>
          <a:xfrm>
            <a:off x="784404" y="3268861"/>
            <a:ext cx="368489" cy="368498"/>
          </a:xfrm>
          <a:prstGeom prst="roundRect">
            <a:avLst>
              <a:gd name="adj" fmla="val 20676459"/>
            </a:avLst>
          </a:prstGeom>
          <a:solidFill>
            <a:srgbClr val="2150F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5704" y="3370163"/>
            <a:ext cx="165790" cy="165795"/>
          </a:xfrm>
          <a:prstGeom prst="rect">
            <a:avLst/>
          </a:prstGeom>
        </p:spPr>
      </p:pic>
      <p:sp>
        <p:nvSpPr>
          <p:cNvPr id="19" name="Text 14"/>
          <p:cNvSpPr/>
          <p:nvPr/>
        </p:nvSpPr>
        <p:spPr>
          <a:xfrm>
            <a:off x="784404" y="3717131"/>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Web Storage API</a:t>
            </a:r>
            <a:endParaRPr lang="en-US" sz="1200" dirty="0"/>
          </a:p>
        </p:txBody>
      </p:sp>
      <p:sp>
        <p:nvSpPr>
          <p:cNvPr id="20" name="Text 15"/>
          <p:cNvSpPr/>
          <p:nvPr/>
        </p:nvSpPr>
        <p:spPr>
          <a:xfrm>
            <a:off x="784404" y="3988891"/>
            <a:ext cx="5038797"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localStorage</a:t>
            </a:r>
            <a:endParaRPr lang="en-US" sz="950" dirty="0"/>
          </a:p>
        </p:txBody>
      </p:sp>
      <p:sp>
        <p:nvSpPr>
          <p:cNvPr id="21" name="Shape 16"/>
          <p:cNvSpPr/>
          <p:nvPr/>
        </p:nvSpPr>
        <p:spPr>
          <a:xfrm>
            <a:off x="661574" y="4376341"/>
            <a:ext cx="5284457" cy="367109"/>
          </a:xfrm>
          <a:prstGeom prst="roundRect">
            <a:avLst>
              <a:gd name="adj" fmla="val 5020"/>
            </a:avLst>
          </a:prstGeom>
          <a:solidFill>
            <a:srgbClr val="B6D6FC"/>
          </a:solidFill>
          <a:ln/>
        </p:spPr>
      </p:sp>
      <p:pic>
        <p:nvPicPr>
          <p:cNvPr id="22" name="Image 3" descr="preencoded.png">    </p:cNvPr>
          <p:cNvPicPr>
            <a:picLocks noChangeAspect="1"/>
          </p:cNvPicPr>
          <p:nvPr/>
        </p:nvPicPr>
        <p:blipFill>
          <a:blip r:embed="rId7"/>
          <a:stretch>
            <a:fillRect/>
          </a:stretch>
        </p:blipFill>
        <p:spPr>
          <a:xfrm>
            <a:off x="784404" y="4536579"/>
            <a:ext cx="153488" cy="122833"/>
          </a:xfrm>
          <a:prstGeom prst="rect">
            <a:avLst/>
          </a:prstGeom>
        </p:spPr>
      </p:pic>
      <p:sp>
        <p:nvSpPr>
          <p:cNvPr id="23" name="Text 17"/>
          <p:cNvSpPr/>
          <p:nvPr/>
        </p:nvSpPr>
        <p:spPr>
          <a:xfrm>
            <a:off x="1060721" y="4478834"/>
            <a:ext cx="5372065" cy="162123"/>
          </a:xfrm>
          <a:prstGeom prst="rect">
            <a:avLst/>
          </a:prstGeom>
          <a:noFill/>
          <a:ln/>
        </p:spPr>
        <p:txBody>
          <a:bodyPr wrap="none" lIns="0" tIns="0" rIns="0" bIns="0" rtlCol="0" anchor="t"/>
          <a:lstStyle/>
          <a:p>
            <a:pPr algn="l" indent="0" marL="0">
              <a:lnSpc>
                <a:spcPct val="110000"/>
              </a:lnSpc>
              <a:buNone/>
            </a:pPr>
            <a:r>
              <a:rPr lang="en-US" sz="950" b="1" dirty="0">
                <a:solidFill>
                  <a:srgbClr val="000000"/>
                </a:solidFill>
                <a:latin typeface="Heebo" pitchFamily="34" charset="0"/>
                <a:ea typeface="Heebo" pitchFamily="34" charset="-122"/>
                <a:cs typeface="Heebo" pitchFamily="34" charset="-120"/>
              </a:rPr>
              <a:t>NO React, NO jQuery, NO Framework</a:t>
            </a:r>
            <a:endParaRPr lang="en-US" sz="950" dirty="0"/>
          </a:p>
        </p:txBody>
      </p:sp>
      <p:sp>
        <p:nvSpPr>
          <p:cNvPr id="24" name="Text 18"/>
          <p:cNvSpPr/>
          <p:nvPr/>
        </p:nvSpPr>
        <p:spPr>
          <a:xfrm>
            <a:off x="6252014" y="1656655"/>
            <a:ext cx="3146942"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Kiến Trúc 5 Tầng (Layered Architecture)</a:t>
            </a:r>
            <a:endParaRPr lang="en-US" sz="1200" dirty="0"/>
          </a:p>
        </p:txBody>
      </p:sp>
      <p:pic>
        <p:nvPicPr>
          <p:cNvPr id="25" name="Image 4" descr="preencoded.png">    </p:cNvPr>
          <p:cNvPicPr>
            <a:picLocks noChangeAspect="1"/>
          </p:cNvPicPr>
          <p:nvPr/>
        </p:nvPicPr>
        <p:blipFill>
          <a:blip r:embed="rId8"/>
          <a:stretch>
            <a:fillRect/>
          </a:stretch>
        </p:blipFill>
        <p:spPr>
          <a:xfrm>
            <a:off x="6252014" y="1938437"/>
            <a:ext cx="368489" cy="952500"/>
          </a:xfrm>
          <a:prstGeom prst="rect">
            <a:avLst/>
          </a:prstGeom>
        </p:spPr>
      </p:pic>
      <p:sp>
        <p:nvSpPr>
          <p:cNvPr id="26" name="Text 19"/>
          <p:cNvSpPr/>
          <p:nvPr/>
        </p:nvSpPr>
        <p:spPr>
          <a:xfrm>
            <a:off x="6700273" y="2061270"/>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Data Layer</a:t>
            </a:r>
            <a:endParaRPr lang="en-US" sz="1200" dirty="0"/>
          </a:p>
        </p:txBody>
      </p:sp>
      <p:sp>
        <p:nvSpPr>
          <p:cNvPr id="27" name="Text 20"/>
          <p:cNvSpPr/>
          <p:nvPr/>
        </p:nvSpPr>
        <p:spPr>
          <a:xfrm>
            <a:off x="6700273" y="2333030"/>
            <a:ext cx="4836198"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data.js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 Dữ liệu tĩnh</a:t>
            </a:r>
            <a:endParaRPr lang="en-US" sz="950" dirty="0"/>
          </a:p>
        </p:txBody>
      </p:sp>
      <p:pic>
        <p:nvPicPr>
          <p:cNvPr id="28" name="Image 5" descr="preencoded.png">    </p:cNvPr>
          <p:cNvPicPr>
            <a:picLocks noChangeAspect="1"/>
          </p:cNvPicPr>
          <p:nvPr/>
        </p:nvPicPr>
        <p:blipFill>
          <a:blip r:embed="rId9"/>
          <a:stretch>
            <a:fillRect/>
          </a:stretch>
        </p:blipFill>
        <p:spPr>
          <a:xfrm>
            <a:off x="6436259" y="2755305"/>
            <a:ext cx="368489" cy="952500"/>
          </a:xfrm>
          <a:prstGeom prst="rect">
            <a:avLst/>
          </a:prstGeom>
        </p:spPr>
      </p:pic>
      <p:sp>
        <p:nvSpPr>
          <p:cNvPr id="29" name="Text 21"/>
          <p:cNvSpPr/>
          <p:nvPr/>
        </p:nvSpPr>
        <p:spPr>
          <a:xfrm>
            <a:off x="6884518" y="2878138"/>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Storage Layer</a:t>
            </a:r>
            <a:endParaRPr lang="en-US" sz="1200" dirty="0"/>
          </a:p>
        </p:txBody>
      </p:sp>
      <p:sp>
        <p:nvSpPr>
          <p:cNvPr id="30" name="Text 22"/>
          <p:cNvSpPr/>
          <p:nvPr/>
        </p:nvSpPr>
        <p:spPr>
          <a:xfrm>
            <a:off x="6884518" y="3149898"/>
            <a:ext cx="4651953"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storage.js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 Wrapper </a:t>
            </a:r>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localStorage</a:t>
            </a:r>
            <a:endParaRPr lang="en-US" sz="950" dirty="0"/>
          </a:p>
        </p:txBody>
      </p:sp>
      <p:pic>
        <p:nvPicPr>
          <p:cNvPr id="31" name="Image 6" descr="preencoded.png">    </p:cNvPr>
          <p:cNvPicPr>
            <a:picLocks noChangeAspect="1"/>
          </p:cNvPicPr>
          <p:nvPr/>
        </p:nvPicPr>
        <p:blipFill>
          <a:blip r:embed="rId10"/>
          <a:stretch>
            <a:fillRect/>
          </a:stretch>
        </p:blipFill>
        <p:spPr>
          <a:xfrm>
            <a:off x="6620503" y="3572173"/>
            <a:ext cx="368489" cy="952500"/>
          </a:xfrm>
          <a:prstGeom prst="rect">
            <a:avLst/>
          </a:prstGeom>
        </p:spPr>
      </p:pic>
      <p:sp>
        <p:nvSpPr>
          <p:cNvPr id="32" name="Text 23"/>
          <p:cNvSpPr/>
          <p:nvPr/>
        </p:nvSpPr>
        <p:spPr>
          <a:xfrm>
            <a:off x="7068762" y="3695005"/>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Service Layer</a:t>
            </a:r>
            <a:endParaRPr lang="en-US" sz="1200" dirty="0"/>
          </a:p>
        </p:txBody>
      </p:sp>
      <p:sp>
        <p:nvSpPr>
          <p:cNvPr id="33" name="Text 24"/>
          <p:cNvSpPr/>
          <p:nvPr/>
        </p:nvSpPr>
        <p:spPr>
          <a:xfrm>
            <a:off x="7068762" y="3966766"/>
            <a:ext cx="4467709"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*Services.js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 Business Logic</a:t>
            </a:r>
            <a:endParaRPr lang="en-US" sz="950" dirty="0"/>
          </a:p>
        </p:txBody>
      </p:sp>
      <p:pic>
        <p:nvPicPr>
          <p:cNvPr id="34" name="Image 7" descr="preencoded.png">    </p:cNvPr>
          <p:cNvPicPr>
            <a:picLocks noChangeAspect="1"/>
          </p:cNvPicPr>
          <p:nvPr/>
        </p:nvPicPr>
        <p:blipFill>
          <a:blip r:embed="rId11"/>
          <a:stretch>
            <a:fillRect/>
          </a:stretch>
        </p:blipFill>
        <p:spPr>
          <a:xfrm>
            <a:off x="6804847" y="4389041"/>
            <a:ext cx="368489" cy="952500"/>
          </a:xfrm>
          <a:prstGeom prst="rect">
            <a:avLst/>
          </a:prstGeom>
        </p:spPr>
      </p:pic>
      <p:sp>
        <p:nvSpPr>
          <p:cNvPr id="35" name="Text 25"/>
          <p:cNvSpPr/>
          <p:nvPr/>
        </p:nvSpPr>
        <p:spPr>
          <a:xfrm>
            <a:off x="7253106" y="4511873"/>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Module Layer</a:t>
            </a:r>
            <a:endParaRPr lang="en-US" sz="1200" dirty="0"/>
          </a:p>
        </p:txBody>
      </p:sp>
      <p:sp>
        <p:nvSpPr>
          <p:cNvPr id="36" name="Text 26"/>
          <p:cNvSpPr/>
          <p:nvPr/>
        </p:nvSpPr>
        <p:spPr>
          <a:xfrm>
            <a:off x="7253106" y="4783634"/>
            <a:ext cx="4283365"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auth.js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a:t>
            </a:r>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tour.js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 Event Handlers</a:t>
            </a:r>
            <a:endParaRPr lang="en-US" sz="950" dirty="0"/>
          </a:p>
        </p:txBody>
      </p:sp>
      <p:pic>
        <p:nvPicPr>
          <p:cNvPr id="37" name="Image 8" descr="preencoded.png">    </p:cNvPr>
          <p:cNvPicPr>
            <a:picLocks noChangeAspect="1"/>
          </p:cNvPicPr>
          <p:nvPr/>
        </p:nvPicPr>
        <p:blipFill>
          <a:blip r:embed="rId12"/>
          <a:stretch>
            <a:fillRect/>
          </a:stretch>
        </p:blipFill>
        <p:spPr>
          <a:xfrm>
            <a:off x="6620503" y="5205909"/>
            <a:ext cx="368489" cy="952500"/>
          </a:xfrm>
          <a:prstGeom prst="rect">
            <a:avLst/>
          </a:prstGeom>
        </p:spPr>
      </p:pic>
      <p:sp>
        <p:nvSpPr>
          <p:cNvPr id="38" name="Text 27"/>
          <p:cNvSpPr/>
          <p:nvPr/>
        </p:nvSpPr>
        <p:spPr>
          <a:xfrm>
            <a:off x="7068762" y="5328741"/>
            <a:ext cx="1535769" cy="191988"/>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UI Layer</a:t>
            </a:r>
            <a:endParaRPr lang="en-US" sz="1200" dirty="0"/>
          </a:p>
        </p:txBody>
      </p:sp>
      <p:sp>
        <p:nvSpPr>
          <p:cNvPr id="39" name="Text 28"/>
          <p:cNvSpPr/>
          <p:nvPr/>
        </p:nvSpPr>
        <p:spPr>
          <a:xfrm>
            <a:off x="7068762" y="5600502"/>
            <a:ext cx="4467709" cy="1748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highlight>
                  <a:srgbClr val="F2F2F2"/>
                </a:highlight>
                <a:latin typeface="Consolas" pitchFamily="34" charset="0"/>
                <a:ea typeface="Consolas" pitchFamily="34" charset="-122"/>
                <a:cs typeface="Consolas" pitchFamily="34" charset="-120"/>
              </a:rPr>
              <a:t>*Ui.js</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 Render DOM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574" y="607120"/>
            <a:ext cx="1825679" cy="321568"/>
          </a:xfrm>
          <a:prstGeom prst="roundRect">
            <a:avLst>
              <a:gd name="adj" fmla="val 6348"/>
            </a:avLst>
          </a:prstGeom>
          <a:noFill/>
          <a:ln w="6350">
            <a:solidFill>
              <a:srgbClr val="2150FE"/>
            </a:solidFill>
            <a:prstDash val="solid"/>
          </a:ln>
        </p:spPr>
      </p:sp>
      <p:sp>
        <p:nvSpPr>
          <p:cNvPr id="3" name="Text 1"/>
          <p:cNvSpPr/>
          <p:nvPr/>
        </p:nvSpPr>
        <p:spPr>
          <a:xfrm>
            <a:off x="769918" y="664468"/>
            <a:ext cx="2218575" cy="206871"/>
          </a:xfrm>
          <a:prstGeom prst="rect">
            <a:avLst/>
          </a:prstGeom>
          <a:noFill/>
          <a:ln/>
        </p:spPr>
        <p:txBody>
          <a:bodyPr wrap="none" lIns="0" tIns="0" rIns="0" bIns="0" rtlCol="0" anchor="t"/>
          <a:lstStyle/>
          <a:p>
            <a:pPr algn="l" indent="0" marL="0">
              <a:lnSpc>
                <a:spcPct val="127000"/>
              </a:lnSpc>
              <a:buNone/>
            </a:pPr>
            <a:r>
              <a:rPr lang="en-US" sz="1050" dirty="0">
                <a:solidFill>
                  <a:srgbClr val="2150FE"/>
                </a:solidFill>
                <a:latin typeface="Heebo" pitchFamily="34" charset="0"/>
                <a:ea typeface="Heebo" pitchFamily="34" charset="-122"/>
                <a:cs typeface="Heebo" pitchFamily="34" charset="-120"/>
              </a:rPr>
              <a:t>KIẾN TRÚC &amp; CHỨC NĂNG</a:t>
            </a:r>
            <a:endParaRPr lang="en-US" sz="1050" dirty="0"/>
          </a:p>
        </p:txBody>
      </p:sp>
      <p:sp>
        <p:nvSpPr>
          <p:cNvPr id="4" name="Text 2"/>
          <p:cNvSpPr/>
          <p:nvPr/>
        </p:nvSpPr>
        <p:spPr>
          <a:xfrm>
            <a:off x="661574" y="989905"/>
            <a:ext cx="6930157" cy="531614"/>
          </a:xfrm>
          <a:prstGeom prst="rect">
            <a:avLst/>
          </a:prstGeom>
          <a:noFill/>
          <a:ln/>
        </p:spPr>
        <p:txBody>
          <a:bodyPr wrap="none" lIns="0" tIns="0" rIns="0" bIns="0" rtlCol="0" anchor="t"/>
          <a:lstStyle/>
          <a:p>
            <a:pPr algn="l" indent="0" marL="0">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Cấu Trúc Thư Mục &amp; Luồng Dữ Liệu</a:t>
            </a:r>
            <a:endParaRPr lang="en-US" sz="3300" dirty="0"/>
          </a:p>
        </p:txBody>
      </p:sp>
      <p:sp>
        <p:nvSpPr>
          <p:cNvPr id="5" name="Text 3"/>
          <p:cNvSpPr/>
          <p:nvPr/>
        </p:nvSpPr>
        <p:spPr>
          <a:xfrm>
            <a:off x="661574" y="1904206"/>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Project Structure</a:t>
            </a:r>
            <a:endParaRPr lang="en-US" sz="1650" dirty="0"/>
          </a:p>
        </p:txBody>
      </p:sp>
      <p:sp>
        <p:nvSpPr>
          <p:cNvPr id="6" name="Text 4"/>
          <p:cNvSpPr/>
          <p:nvPr/>
        </p:nvSpPr>
        <p:spPr>
          <a:xfrm>
            <a:off x="661574" y="2323009"/>
            <a:ext cx="5001095" cy="1857375"/>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CSS/ → style.css</a:t>
            </a:r>
            <a:endParaRPr lang="en-US" sz="1300" dirty="0"/>
          </a:p>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DATA/ → data.js (mô phỏng DB)</a:t>
            </a:r>
            <a:endParaRPr lang="en-US" sz="1300" dirty="0"/>
          </a:p>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MODULES/ → auth.js, tour.js</a:t>
            </a:r>
            <a:endParaRPr lang="en-US" sz="1300" dirty="0"/>
          </a:p>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SERVICES/ → bookingServices.js, tourServices.js</a:t>
            </a:r>
            <a:endParaRPr lang="en-US" sz="1300" dirty="0"/>
          </a:p>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STORAGE/ → storage.js</a:t>
            </a:r>
            <a:endParaRPr lang="en-US" sz="1300" dirty="0"/>
          </a:p>
          <a:p>
            <a:pPr algn="l" marL="342900" indent="-342900">
              <a:lnSpc>
                <a:spcPct val="127000"/>
              </a:lnSpc>
              <a:buSzPct val="100000"/>
              <a:buChar char="•"/>
            </a:pPr>
            <a:r>
              <a:rPr lang="en-US" sz="1300" dirty="0">
                <a:solidFill>
                  <a:srgbClr val="000000"/>
                </a:solidFill>
                <a:latin typeface="Heebo" pitchFamily="34" charset="0"/>
                <a:ea typeface="Heebo" pitchFamily="34" charset="-122"/>
                <a:cs typeface="Heebo" pitchFamily="34" charset="-120"/>
              </a:rPr>
              <a:t>📁</a:t>
            </a:r>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 UI/ → tourUi.js, bookingUi.js</a:t>
            </a:r>
            <a:endParaRPr lang="en-US" sz="1300" dirty="0"/>
          </a:p>
        </p:txBody>
      </p:sp>
      <p:sp>
        <p:nvSpPr>
          <p:cNvPr id="7" name="Text 5"/>
          <p:cNvSpPr/>
          <p:nvPr/>
        </p:nvSpPr>
        <p:spPr>
          <a:xfrm>
            <a:off x="6083942" y="1904206"/>
            <a:ext cx="3352716"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Luồng Dữ Liệu (appState Flow)</a:t>
            </a:r>
            <a:endParaRPr lang="en-US" sz="1650" dirty="0"/>
          </a:p>
        </p:txBody>
      </p:sp>
      <p:sp>
        <p:nvSpPr>
          <p:cNvPr id="8" name="Text 6"/>
          <p:cNvSpPr/>
          <p:nvPr/>
        </p:nvSpPr>
        <p:spPr>
          <a:xfrm>
            <a:off x="6083942" y="2323009"/>
            <a:ext cx="6062015" cy="258564"/>
          </a:xfrm>
          <a:prstGeom prst="rect">
            <a:avLst/>
          </a:prstGeom>
          <a:noFill/>
          <a:ln/>
        </p:spPr>
        <p:txBody>
          <a:bodyPr wrap="none" lIns="0" tIns="0" rIns="0" bIns="0" rtlCol="0" anchor="t"/>
          <a:lstStyle/>
          <a:p>
            <a:pPr algn="l" indent="0" marL="0">
              <a:lnSpc>
                <a:spcPct val="127000"/>
              </a:lnSpc>
              <a:buNone/>
            </a:pPr>
            <a:r>
              <a:rPr lang="en-US" sz="1300" b="1" dirty="0">
                <a:solidFill>
                  <a:srgbClr val="4C4C4D"/>
                </a:solidFill>
                <a:latin typeface="Heebo" pitchFamily="34" charset="0"/>
                <a:ea typeface="Heebo" pitchFamily="34" charset="-122"/>
                <a:cs typeface="Heebo" pitchFamily="34" charset="-120"/>
              </a:rPr>
              <a:t>appState là Single Source of Truth</a:t>
            </a:r>
            <a:endParaRPr lang="en-US" sz="1300" dirty="0"/>
          </a:p>
        </p:txBody>
      </p:sp>
      <p:pic>
        <p:nvPicPr>
          <p:cNvPr id="9" name="Image 0" descr="preencoded.png">    </p:cNvPr>
          <p:cNvPicPr>
            <a:picLocks noChangeAspect="1"/>
          </p:cNvPicPr>
          <p:nvPr/>
        </p:nvPicPr>
        <p:blipFill>
          <a:blip r:embed="rId1"/>
          <a:stretch>
            <a:fillRect/>
          </a:stretch>
        </p:blipFill>
        <p:spPr>
          <a:xfrm>
            <a:off x="6356588" y="2753816"/>
            <a:ext cx="4907137" cy="2398613"/>
          </a:xfrm>
          <a:prstGeom prst="rect">
            <a:avLst/>
          </a:prstGeom>
        </p:spPr>
      </p:pic>
      <p:sp>
        <p:nvSpPr>
          <p:cNvPr id="10" name="Text 7"/>
          <p:cNvSpPr/>
          <p:nvPr/>
        </p:nvSpPr>
        <p:spPr>
          <a:xfrm>
            <a:off x="6728147" y="3579099"/>
            <a:ext cx="1143967" cy="142999"/>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Tương tác người</a:t>
            </a:r>
            <a:endParaRPr lang="en-US" sz="900" dirty="0"/>
          </a:p>
        </p:txBody>
      </p:sp>
      <p:sp>
        <p:nvSpPr>
          <p:cNvPr id="11" name="Text 8"/>
          <p:cNvSpPr/>
          <p:nvPr/>
        </p:nvSpPr>
        <p:spPr>
          <a:xfrm>
            <a:off x="9183862" y="3029981"/>
            <a:ext cx="1143967" cy="142999"/>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Cập nhật appState</a:t>
            </a:r>
            <a:endParaRPr lang="en-US" sz="900" dirty="0"/>
          </a:p>
        </p:txBody>
      </p:sp>
      <p:sp>
        <p:nvSpPr>
          <p:cNvPr id="12" name="Text 9"/>
          <p:cNvSpPr/>
          <p:nvPr/>
        </p:nvSpPr>
        <p:spPr>
          <a:xfrm>
            <a:off x="9748139" y="4158723"/>
            <a:ext cx="1143967" cy="142999"/>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Gọi hàm render</a:t>
            </a:r>
            <a:endParaRPr lang="en-US" sz="900" dirty="0"/>
          </a:p>
        </p:txBody>
      </p:sp>
      <p:sp>
        <p:nvSpPr>
          <p:cNvPr id="13" name="Text 10"/>
          <p:cNvSpPr/>
          <p:nvPr/>
        </p:nvSpPr>
        <p:spPr>
          <a:xfrm>
            <a:off x="7287420" y="4718010"/>
            <a:ext cx="1143967" cy="142999"/>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Cập nhật DOM</a:t>
            </a:r>
            <a:endParaRPr lang="en-US" sz="900" dirty="0"/>
          </a:p>
        </p:txBody>
      </p:sp>
      <p:sp>
        <p:nvSpPr>
          <p:cNvPr id="14" name="Text 11"/>
          <p:cNvSpPr/>
          <p:nvPr/>
        </p:nvSpPr>
        <p:spPr>
          <a:xfrm>
            <a:off x="6083942" y="5324673"/>
            <a:ext cx="5452430" cy="7883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           Khi người dùng tương tác, </a:t>
            </a:r>
            <a:pPr algn="l" indent="0" marL="0">
              <a:lnSpc>
                <a:spcPct val="127000"/>
              </a:lnSpc>
              <a:buNone/>
            </a:pPr>
            <a:r>
              <a:rPr lang="en-US" sz="1300" dirty="0">
                <a:solidFill>
                  <a:srgbClr val="4C4C4D"/>
                </a:solidFill>
                <a:highlight>
                  <a:srgbClr val="F2F2F2"/>
                </a:highlight>
                <a:latin typeface="Consolas" pitchFamily="34" charset="0"/>
                <a:ea typeface="Consolas" pitchFamily="34" charset="-122"/>
                <a:cs typeface="Consolas" pitchFamily="34" charset="-120"/>
              </a:rPr>
              <a:t>appState</a:t>
            </a:r>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 được cập nhật, sau đó các hàm render được gọi để làm mới giao diện.           </a:t>
            </a:r>
            <a:pPr algn="l" indent="0" marL="0">
              <a:lnSpc>
                <a:spcPct val="127000"/>
              </a:lnSpc>
              <a:buNone/>
            </a:pPr>
            <a:r>
              <a:rPr lang="en-US" sz="1300" b="1" dirty="0">
                <a:solidFill>
                  <a:srgbClr val="4C4C4D"/>
                </a:solidFill>
                <a:latin typeface="Heebo" pitchFamily="34" charset="0"/>
                <a:ea typeface="Heebo" pitchFamily="34" charset="-122"/>
                <a:cs typeface="Heebo" pitchFamily="34" charset="-120"/>
              </a:rPr>
              <a:t>appState</a:t>
            </a:r>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 là nguồn chân lý duy nhất, đảm bảo dữ liệu luôn nhất quán.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574" y="1291630"/>
            <a:ext cx="961207" cy="321568"/>
          </a:xfrm>
          <a:prstGeom prst="roundRect">
            <a:avLst>
              <a:gd name="adj" fmla="val 6348"/>
            </a:avLst>
          </a:prstGeom>
          <a:noFill/>
          <a:ln w="6350">
            <a:solidFill>
              <a:srgbClr val="2150FE"/>
            </a:solidFill>
            <a:prstDash val="solid"/>
          </a:ln>
        </p:spPr>
      </p:sp>
      <p:sp>
        <p:nvSpPr>
          <p:cNvPr id="3" name="Text 1"/>
          <p:cNvSpPr/>
          <p:nvPr/>
        </p:nvSpPr>
        <p:spPr>
          <a:xfrm>
            <a:off x="769918" y="1348978"/>
            <a:ext cx="1354104" cy="206871"/>
          </a:xfrm>
          <a:prstGeom prst="rect">
            <a:avLst/>
          </a:prstGeom>
          <a:noFill/>
          <a:ln/>
        </p:spPr>
        <p:txBody>
          <a:bodyPr wrap="none" lIns="0" tIns="0" rIns="0" bIns="0" rtlCol="0" anchor="t"/>
          <a:lstStyle/>
          <a:p>
            <a:pPr algn="l" indent="0" marL="0">
              <a:lnSpc>
                <a:spcPct val="127000"/>
              </a:lnSpc>
              <a:buNone/>
            </a:pPr>
            <a:r>
              <a:rPr lang="en-US" sz="1050" dirty="0">
                <a:solidFill>
                  <a:srgbClr val="2150FE"/>
                </a:solidFill>
                <a:latin typeface="Heebo" pitchFamily="34" charset="0"/>
                <a:ea typeface="Heebo" pitchFamily="34" charset="-122"/>
                <a:cs typeface="Heebo" pitchFamily="34" charset="-120"/>
              </a:rPr>
              <a:t>UI SCREENS</a:t>
            </a:r>
            <a:endParaRPr lang="en-US" sz="1050" dirty="0"/>
          </a:p>
        </p:txBody>
      </p:sp>
      <p:sp>
        <p:nvSpPr>
          <p:cNvPr id="4" name="Text 2"/>
          <p:cNvSpPr/>
          <p:nvPr/>
        </p:nvSpPr>
        <p:spPr>
          <a:xfrm>
            <a:off x="661574" y="1674416"/>
            <a:ext cx="4862490" cy="531614"/>
          </a:xfrm>
          <a:prstGeom prst="rect">
            <a:avLst/>
          </a:prstGeom>
          <a:noFill/>
          <a:ln/>
        </p:spPr>
        <p:txBody>
          <a:bodyPr wrap="none" lIns="0" tIns="0" rIns="0" bIns="0" rtlCol="0" anchor="t"/>
          <a:lstStyle/>
          <a:p>
            <a:pPr algn="l" indent="0" marL="0">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Giao Diện Hệ Thống</a:t>
            </a:r>
            <a:endParaRPr lang="en-US" sz="3300" dirty="0"/>
          </a:p>
        </p:txBody>
      </p:sp>
      <p:sp>
        <p:nvSpPr>
          <p:cNvPr id="5" name="Text 3"/>
          <p:cNvSpPr/>
          <p:nvPr/>
        </p:nvSpPr>
        <p:spPr>
          <a:xfrm>
            <a:off x="661574" y="2588716"/>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Tour List</a:t>
            </a:r>
            <a:endParaRPr lang="en-US" sz="1650" dirty="0"/>
          </a:p>
        </p:txBody>
      </p:sp>
      <p:pic>
        <p:nvPicPr>
          <p:cNvPr id="6" name="Image 0" descr="preencoded.png">    </p:cNvPr>
          <p:cNvPicPr>
            <a:picLocks noChangeAspect="1"/>
          </p:cNvPicPr>
          <p:nvPr/>
        </p:nvPicPr>
        <p:blipFill>
          <a:blip r:embed="rId1"/>
          <a:stretch>
            <a:fillRect/>
          </a:stretch>
        </p:blipFill>
        <p:spPr>
          <a:xfrm>
            <a:off x="661574" y="3026668"/>
            <a:ext cx="3011115" cy="1428452"/>
          </a:xfrm>
          <a:prstGeom prst="rect">
            <a:avLst/>
          </a:prstGeom>
        </p:spPr>
      </p:pic>
      <p:sp>
        <p:nvSpPr>
          <p:cNvPr id="7" name="Text 4"/>
          <p:cNvSpPr/>
          <p:nvPr/>
        </p:nvSpPr>
        <p:spPr>
          <a:xfrm>
            <a:off x="661574" y="4627364"/>
            <a:ext cx="3345771" cy="882848"/>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Pipeline Filtering</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Keyword, Place, Price</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Real-time Results</a:t>
            </a:r>
            <a:endParaRPr lang="en-US" sz="1300" dirty="0"/>
          </a:p>
        </p:txBody>
      </p:sp>
      <p:sp>
        <p:nvSpPr>
          <p:cNvPr id="8" name="Text 5"/>
          <p:cNvSpPr/>
          <p:nvPr/>
        </p:nvSpPr>
        <p:spPr>
          <a:xfrm>
            <a:off x="4428617" y="2588716"/>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Booking Form</a:t>
            </a:r>
            <a:endParaRPr lang="en-US" sz="1650" dirty="0"/>
          </a:p>
        </p:txBody>
      </p:sp>
      <p:pic>
        <p:nvPicPr>
          <p:cNvPr id="9" name="Image 1" descr="preencoded.png">    </p:cNvPr>
          <p:cNvPicPr>
            <a:picLocks noChangeAspect="1"/>
          </p:cNvPicPr>
          <p:nvPr/>
        </p:nvPicPr>
        <p:blipFill>
          <a:blip r:embed="rId2"/>
          <a:stretch>
            <a:fillRect/>
          </a:stretch>
        </p:blipFill>
        <p:spPr>
          <a:xfrm>
            <a:off x="4428617" y="3026668"/>
            <a:ext cx="3011115" cy="1430933"/>
          </a:xfrm>
          <a:prstGeom prst="rect">
            <a:avLst/>
          </a:prstGeom>
        </p:spPr>
      </p:pic>
      <p:sp>
        <p:nvSpPr>
          <p:cNvPr id="10" name="Text 6"/>
          <p:cNvSpPr/>
          <p:nvPr/>
        </p:nvSpPr>
        <p:spPr>
          <a:xfrm>
            <a:off x="4428617" y="4629845"/>
            <a:ext cx="3345771" cy="882848"/>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Real-time Price Calculation</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Validation ngay trên form</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Dynamic Ticket ID</a:t>
            </a:r>
            <a:endParaRPr lang="en-US" sz="1300" dirty="0"/>
          </a:p>
        </p:txBody>
      </p:sp>
      <p:sp>
        <p:nvSpPr>
          <p:cNvPr id="11" name="Text 7"/>
          <p:cNvSpPr/>
          <p:nvPr/>
        </p:nvSpPr>
        <p:spPr>
          <a:xfrm>
            <a:off x="8195661" y="2588716"/>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Login &amp; History</a:t>
            </a:r>
            <a:endParaRPr lang="en-US" sz="1650" dirty="0"/>
          </a:p>
        </p:txBody>
      </p:sp>
      <p:pic>
        <p:nvPicPr>
          <p:cNvPr id="12" name="Image 2" descr="preencoded.png">    </p:cNvPr>
          <p:cNvPicPr>
            <a:picLocks noChangeAspect="1"/>
          </p:cNvPicPr>
          <p:nvPr/>
        </p:nvPicPr>
        <p:blipFill>
          <a:blip r:embed="rId3"/>
          <a:stretch>
            <a:fillRect/>
          </a:stretch>
        </p:blipFill>
        <p:spPr>
          <a:xfrm>
            <a:off x="8195661" y="3026668"/>
            <a:ext cx="3011115" cy="1392932"/>
          </a:xfrm>
          <a:prstGeom prst="rect">
            <a:avLst/>
          </a:prstGeom>
        </p:spPr>
      </p:pic>
      <p:sp>
        <p:nvSpPr>
          <p:cNvPr id="13" name="Text 8"/>
          <p:cNvSpPr/>
          <p:nvPr/>
        </p:nvSpPr>
        <p:spPr>
          <a:xfrm>
            <a:off x="8195661" y="4591844"/>
            <a:ext cx="3345771" cy="882848"/>
          </a:xfrm>
          <a:prstGeom prst="rect">
            <a:avLst/>
          </a:prstGeom>
          <a:noFill/>
          <a:ln/>
        </p:spPr>
        <p:txBody>
          <a:bodyPr wrap="square" lIns="0" tIns="0" rIns="0" bIns="0" rtlCol="0" anchor="t">
            <a:normAutofit/>
          </a:bodyPr>
          <a:lstStyle/>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Register / Login</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Booking History</a:t>
            </a:r>
            <a:endParaRPr lang="en-US" sz="1300" dirty="0"/>
          </a:p>
          <a:p>
            <a:pPr algn="l" marL="342900" indent="-342900">
              <a:lnSpc>
                <a:spcPct val="127000"/>
              </a:lnSpc>
              <a:buSzPct val="100000"/>
              <a:buChar char="•"/>
            </a:pPr>
            <a:r>
              <a:rPr lang="en-US" sz="1300" dirty="0">
                <a:solidFill>
                  <a:srgbClr val="4C4C4D"/>
                </a:solidFill>
                <a:latin typeface="Heebo" pitchFamily="34" charset="0"/>
                <a:ea typeface="Heebo" pitchFamily="34" charset="-122"/>
                <a:cs typeface="Heebo" pitchFamily="34" charset="-120"/>
              </a:rPr>
              <a:t>Customer Profile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574" y="657126"/>
            <a:ext cx="1048121" cy="277515"/>
          </a:xfrm>
          <a:prstGeom prst="roundRect">
            <a:avLst>
              <a:gd name="adj" fmla="val 6539"/>
            </a:avLst>
          </a:prstGeom>
          <a:noFill/>
          <a:ln w="6350">
            <a:solidFill>
              <a:srgbClr val="2150FE"/>
            </a:solidFill>
            <a:prstDash val="solid"/>
          </a:ln>
        </p:spPr>
      </p:sp>
      <p:sp>
        <p:nvSpPr>
          <p:cNvPr id="3" name="Text 1"/>
          <p:cNvSpPr/>
          <p:nvPr/>
        </p:nvSpPr>
        <p:spPr>
          <a:xfrm>
            <a:off x="758608" y="708819"/>
            <a:ext cx="1463638" cy="174129"/>
          </a:xfrm>
          <a:prstGeom prst="rect">
            <a:avLst/>
          </a:prstGeom>
          <a:noFill/>
          <a:ln/>
        </p:spPr>
        <p:txBody>
          <a:bodyPr wrap="none" lIns="0" tIns="0" rIns="0" bIns="0" rtlCol="0" anchor="t"/>
          <a:lstStyle/>
          <a:p>
            <a:pPr algn="l" indent="0" marL="0">
              <a:lnSpc>
                <a:spcPct val="120000"/>
              </a:lnSpc>
              <a:buNone/>
            </a:pPr>
            <a:r>
              <a:rPr lang="en-US" sz="950" dirty="0">
                <a:solidFill>
                  <a:srgbClr val="2150FE"/>
                </a:solidFill>
                <a:latin typeface="Heebo" pitchFamily="34" charset="0"/>
                <a:ea typeface="Heebo" pitchFamily="34" charset="-122"/>
                <a:cs typeface="Heebo" pitchFamily="34" charset="-120"/>
              </a:rPr>
              <a:t>USER JOURNEY</a:t>
            </a:r>
            <a:endParaRPr lang="en-US" sz="950" dirty="0"/>
          </a:p>
        </p:txBody>
      </p:sp>
      <p:sp>
        <p:nvSpPr>
          <p:cNvPr id="4" name="Text 2"/>
          <p:cNvSpPr/>
          <p:nvPr/>
        </p:nvSpPr>
        <p:spPr>
          <a:xfrm>
            <a:off x="661574" y="982960"/>
            <a:ext cx="4389923" cy="472480"/>
          </a:xfrm>
          <a:prstGeom prst="rect">
            <a:avLst/>
          </a:prstGeom>
          <a:noFill/>
          <a:ln/>
        </p:spPr>
        <p:txBody>
          <a:bodyPr wrap="none" lIns="0" tIns="0" rIns="0" bIns="0" rtlCol="0" anchor="t"/>
          <a:lstStyle/>
          <a:p>
            <a:pPr algn="l" indent="0" marL="0">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User Journey</a:t>
            </a:r>
            <a:endParaRPr lang="en-US" sz="2950" dirty="0"/>
          </a:p>
        </p:txBody>
      </p:sp>
      <p:sp>
        <p:nvSpPr>
          <p:cNvPr id="5" name="Text 3"/>
          <p:cNvSpPr/>
          <p:nvPr/>
        </p:nvSpPr>
        <p:spPr>
          <a:xfrm>
            <a:off x="661574" y="1636812"/>
            <a:ext cx="1147813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Hành trình của người dùng từ khi ghé thăm lần đầu đến khi đặt tour và xem lại lịch sử.</a:t>
            </a:r>
            <a:endParaRPr lang="en-US" sz="1150" dirty="0"/>
          </a:p>
        </p:txBody>
      </p:sp>
      <p:pic>
        <p:nvPicPr>
          <p:cNvPr id="6" name="Image 0" descr="preencoded.png">    </p:cNvPr>
          <p:cNvPicPr>
            <a:picLocks noChangeAspect="1"/>
          </p:cNvPicPr>
          <p:nvPr/>
        </p:nvPicPr>
        <p:blipFill>
          <a:blip r:embed="rId1"/>
          <a:stretch>
            <a:fillRect/>
          </a:stretch>
        </p:blipFill>
        <p:spPr>
          <a:xfrm>
            <a:off x="661574" y="1990527"/>
            <a:ext cx="5434273" cy="604838"/>
          </a:xfrm>
          <a:prstGeom prst="rect">
            <a:avLst/>
          </a:prstGeom>
        </p:spPr>
      </p:pic>
      <p:sp>
        <p:nvSpPr>
          <p:cNvPr id="7" name="Text 4"/>
          <p:cNvSpPr/>
          <p:nvPr/>
        </p:nvSpPr>
        <p:spPr>
          <a:xfrm>
            <a:off x="812780" y="2716312"/>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Guest</a:t>
            </a:r>
            <a:endParaRPr lang="en-US" sz="1450" dirty="0"/>
          </a:p>
        </p:txBody>
      </p:sp>
      <p:sp>
        <p:nvSpPr>
          <p:cNvPr id="8" name="Text 5"/>
          <p:cNvSpPr/>
          <p:nvPr/>
        </p:nvSpPr>
        <p:spPr>
          <a:xfrm>
            <a:off x="812780" y="3025080"/>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Khách vãng lai</a:t>
            </a:r>
            <a:endParaRPr lang="en-US" sz="1150" dirty="0"/>
          </a:p>
        </p:txBody>
      </p:sp>
      <p:pic>
        <p:nvPicPr>
          <p:cNvPr id="9" name="Image 1" descr="preencoded.png">    </p:cNvPr>
          <p:cNvPicPr>
            <a:picLocks noChangeAspect="1"/>
          </p:cNvPicPr>
          <p:nvPr/>
        </p:nvPicPr>
        <p:blipFill>
          <a:blip r:embed="rId2"/>
          <a:stretch>
            <a:fillRect/>
          </a:stretch>
        </p:blipFill>
        <p:spPr>
          <a:xfrm>
            <a:off x="6095848" y="1990527"/>
            <a:ext cx="5434273" cy="604838"/>
          </a:xfrm>
          <a:prstGeom prst="rect">
            <a:avLst/>
          </a:prstGeom>
        </p:spPr>
      </p:pic>
      <p:sp>
        <p:nvSpPr>
          <p:cNvPr id="10" name="Text 6"/>
          <p:cNvSpPr/>
          <p:nvPr/>
        </p:nvSpPr>
        <p:spPr>
          <a:xfrm>
            <a:off x="6247053" y="2716312"/>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Register</a:t>
            </a:r>
            <a:endParaRPr lang="en-US" sz="1450" dirty="0"/>
          </a:p>
        </p:txBody>
      </p:sp>
      <p:sp>
        <p:nvSpPr>
          <p:cNvPr id="11" name="Text 7"/>
          <p:cNvSpPr/>
          <p:nvPr/>
        </p:nvSpPr>
        <p:spPr>
          <a:xfrm>
            <a:off x="6247053" y="3025080"/>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Tạo tài khoản</a:t>
            </a:r>
            <a:endParaRPr lang="en-US" sz="1150" dirty="0"/>
          </a:p>
        </p:txBody>
      </p:sp>
      <p:pic>
        <p:nvPicPr>
          <p:cNvPr id="12" name="Image 2" descr="preencoded.png">    </p:cNvPr>
          <p:cNvPicPr>
            <a:picLocks noChangeAspect="1"/>
          </p:cNvPicPr>
          <p:nvPr/>
        </p:nvPicPr>
        <p:blipFill>
          <a:blip r:embed="rId3"/>
          <a:stretch>
            <a:fillRect/>
          </a:stretch>
        </p:blipFill>
        <p:spPr>
          <a:xfrm>
            <a:off x="661574" y="3393976"/>
            <a:ext cx="5434273" cy="604838"/>
          </a:xfrm>
          <a:prstGeom prst="rect">
            <a:avLst/>
          </a:prstGeom>
        </p:spPr>
      </p:pic>
      <p:sp>
        <p:nvSpPr>
          <p:cNvPr id="13" name="Text 8"/>
          <p:cNvSpPr/>
          <p:nvPr/>
        </p:nvSpPr>
        <p:spPr>
          <a:xfrm>
            <a:off x="812780" y="4119761"/>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Login</a:t>
            </a:r>
            <a:endParaRPr lang="en-US" sz="1450" dirty="0"/>
          </a:p>
        </p:txBody>
      </p:sp>
      <p:sp>
        <p:nvSpPr>
          <p:cNvPr id="14" name="Text 9"/>
          <p:cNvSpPr/>
          <p:nvPr/>
        </p:nvSpPr>
        <p:spPr>
          <a:xfrm>
            <a:off x="812780" y="4428530"/>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Đăng nhập hệ thống</a:t>
            </a:r>
            <a:endParaRPr lang="en-US" sz="1150" dirty="0"/>
          </a:p>
        </p:txBody>
      </p:sp>
      <p:pic>
        <p:nvPicPr>
          <p:cNvPr id="15" name="Image 3" descr="preencoded.png">    </p:cNvPr>
          <p:cNvPicPr>
            <a:picLocks noChangeAspect="1"/>
          </p:cNvPicPr>
          <p:nvPr/>
        </p:nvPicPr>
        <p:blipFill>
          <a:blip r:embed="rId4"/>
          <a:stretch>
            <a:fillRect/>
          </a:stretch>
        </p:blipFill>
        <p:spPr>
          <a:xfrm>
            <a:off x="6095848" y="3393976"/>
            <a:ext cx="5434273" cy="604838"/>
          </a:xfrm>
          <a:prstGeom prst="rect">
            <a:avLst/>
          </a:prstGeom>
        </p:spPr>
      </p:pic>
      <p:sp>
        <p:nvSpPr>
          <p:cNvPr id="16" name="Text 10"/>
          <p:cNvSpPr/>
          <p:nvPr/>
        </p:nvSpPr>
        <p:spPr>
          <a:xfrm>
            <a:off x="6247053" y="4119761"/>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Search Tour</a:t>
            </a:r>
            <a:endParaRPr lang="en-US" sz="1450" dirty="0"/>
          </a:p>
        </p:txBody>
      </p:sp>
      <p:sp>
        <p:nvSpPr>
          <p:cNvPr id="17" name="Text 11"/>
          <p:cNvSpPr/>
          <p:nvPr/>
        </p:nvSpPr>
        <p:spPr>
          <a:xfrm>
            <a:off x="6247053" y="4428530"/>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Tìm kiếm &amp; lọc</a:t>
            </a:r>
            <a:endParaRPr lang="en-US" sz="1150" dirty="0"/>
          </a:p>
        </p:txBody>
      </p:sp>
      <p:pic>
        <p:nvPicPr>
          <p:cNvPr id="18" name="Image 4" descr="preencoded.png">    </p:cNvPr>
          <p:cNvPicPr>
            <a:picLocks noChangeAspect="1"/>
          </p:cNvPicPr>
          <p:nvPr/>
        </p:nvPicPr>
        <p:blipFill>
          <a:blip r:embed="rId5"/>
          <a:stretch>
            <a:fillRect/>
          </a:stretch>
        </p:blipFill>
        <p:spPr>
          <a:xfrm>
            <a:off x="661574" y="4797425"/>
            <a:ext cx="5434273" cy="604838"/>
          </a:xfrm>
          <a:prstGeom prst="rect">
            <a:avLst/>
          </a:prstGeom>
        </p:spPr>
      </p:pic>
      <p:sp>
        <p:nvSpPr>
          <p:cNvPr id="19" name="Text 12"/>
          <p:cNvSpPr/>
          <p:nvPr/>
        </p:nvSpPr>
        <p:spPr>
          <a:xfrm>
            <a:off x="812780" y="5523210"/>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Book Tour</a:t>
            </a:r>
            <a:endParaRPr lang="en-US" sz="1450" dirty="0"/>
          </a:p>
        </p:txBody>
      </p:sp>
      <p:sp>
        <p:nvSpPr>
          <p:cNvPr id="20" name="Text 13"/>
          <p:cNvSpPr/>
          <p:nvPr/>
        </p:nvSpPr>
        <p:spPr>
          <a:xfrm>
            <a:off x="812780" y="5831979"/>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Đặt vé</a:t>
            </a:r>
            <a:endParaRPr lang="en-US" sz="1150" dirty="0"/>
          </a:p>
        </p:txBody>
      </p:sp>
      <p:pic>
        <p:nvPicPr>
          <p:cNvPr id="21" name="Image 5" descr="preencoded.png">    </p:cNvPr>
          <p:cNvPicPr>
            <a:picLocks noChangeAspect="1"/>
          </p:cNvPicPr>
          <p:nvPr/>
        </p:nvPicPr>
        <p:blipFill>
          <a:blip r:embed="rId6"/>
          <a:stretch>
            <a:fillRect/>
          </a:stretch>
        </p:blipFill>
        <p:spPr>
          <a:xfrm>
            <a:off x="6095848" y="4797425"/>
            <a:ext cx="5434273" cy="604838"/>
          </a:xfrm>
          <a:prstGeom prst="rect">
            <a:avLst/>
          </a:prstGeom>
        </p:spPr>
      </p:pic>
      <p:sp>
        <p:nvSpPr>
          <p:cNvPr id="22" name="Text 14"/>
          <p:cNvSpPr/>
          <p:nvPr/>
        </p:nvSpPr>
        <p:spPr>
          <a:xfrm>
            <a:off x="6247053" y="5523210"/>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History</a:t>
            </a:r>
            <a:endParaRPr lang="en-US" sz="1450" dirty="0"/>
          </a:p>
        </p:txBody>
      </p:sp>
      <p:sp>
        <p:nvSpPr>
          <p:cNvPr id="23" name="Text 15"/>
          <p:cNvSpPr/>
          <p:nvPr/>
        </p:nvSpPr>
        <p:spPr>
          <a:xfrm>
            <a:off x="6247053" y="5831979"/>
            <a:ext cx="51318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Xem lịch sử</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680525" y="475952"/>
            <a:ext cx="1274433" cy="265509"/>
          </a:xfrm>
          <a:prstGeom prst="roundRect">
            <a:avLst>
              <a:gd name="adj" fmla="val 6594"/>
            </a:avLst>
          </a:prstGeom>
          <a:noFill/>
          <a:ln w="6350">
            <a:solidFill>
              <a:srgbClr val="2150FE"/>
            </a:solidFill>
            <a:prstDash val="solid"/>
          </a:ln>
        </p:spPr>
      </p:sp>
      <p:sp>
        <p:nvSpPr>
          <p:cNvPr id="3" name="Text 1"/>
          <p:cNvSpPr/>
          <p:nvPr/>
        </p:nvSpPr>
        <p:spPr>
          <a:xfrm>
            <a:off x="1774384" y="526058"/>
            <a:ext cx="1696301" cy="165298"/>
          </a:xfrm>
          <a:prstGeom prst="rect">
            <a:avLst/>
          </a:prstGeom>
          <a:noFill/>
          <a:ln/>
        </p:spPr>
        <p:txBody>
          <a:bodyPr wrap="none" lIns="0" tIns="0" rIns="0" bIns="0" rtlCol="0" anchor="t"/>
          <a:lstStyle/>
          <a:p>
            <a:pPr algn="l" indent="0" marL="0">
              <a:lnSpc>
                <a:spcPct val="118000"/>
              </a:lnSpc>
              <a:buNone/>
            </a:pPr>
            <a:r>
              <a:rPr lang="en-US" sz="900" dirty="0">
                <a:solidFill>
                  <a:srgbClr val="2150FE"/>
                </a:solidFill>
                <a:latin typeface="Heebo" pitchFamily="34" charset="0"/>
                <a:ea typeface="Heebo" pitchFamily="34" charset="-122"/>
                <a:cs typeface="Heebo" pitchFamily="34" charset="-120"/>
              </a:rPr>
              <a:t>XÁC THỰC &amp; ĐẶT VÉ</a:t>
            </a:r>
            <a:endParaRPr lang="en-US" sz="900" dirty="0"/>
          </a:p>
        </p:txBody>
      </p:sp>
      <p:sp>
        <p:nvSpPr>
          <p:cNvPr id="4" name="Text 2"/>
          <p:cNvSpPr/>
          <p:nvPr/>
        </p:nvSpPr>
        <p:spPr>
          <a:xfrm>
            <a:off x="1680525" y="786507"/>
            <a:ext cx="5398754" cy="455910"/>
          </a:xfrm>
          <a:prstGeom prst="rect">
            <a:avLst/>
          </a:prstGeom>
          <a:noFill/>
          <a:ln/>
        </p:spPr>
        <p:txBody>
          <a:bodyPr wrap="none" lIns="0" tIns="0" rIns="0" bIns="0" rtlCol="0" anchor="t"/>
          <a:lstStyle/>
          <a:p>
            <a:pPr algn="l" indent="0" marL="0">
              <a:lnSpc>
                <a:spcPct val="104000"/>
              </a:lnSpc>
              <a:buNone/>
            </a:pPr>
            <a:r>
              <a:rPr lang="en-US" sz="2850" dirty="0">
                <a:solidFill>
                  <a:srgbClr val="152D47"/>
                </a:solidFill>
                <a:latin typeface="Crimson Pro SemiBold" pitchFamily="34" charset="0"/>
                <a:ea typeface="Crimson Pro SemiBold" pitchFamily="34" charset="-122"/>
                <a:cs typeface="Crimson Pro SemiBold" pitchFamily="34" charset="-120"/>
              </a:rPr>
              <a:t>Authentication &amp; Booking Flow</a:t>
            </a:r>
            <a:endParaRPr lang="en-US" sz="2850" dirty="0"/>
          </a:p>
        </p:txBody>
      </p:sp>
      <p:sp>
        <p:nvSpPr>
          <p:cNvPr id="5" name="Text 3"/>
          <p:cNvSpPr/>
          <p:nvPr/>
        </p:nvSpPr>
        <p:spPr>
          <a:xfrm>
            <a:off x="1680525" y="1523901"/>
            <a:ext cx="2433279" cy="227905"/>
          </a:xfrm>
          <a:prstGeom prst="rect">
            <a:avLst/>
          </a:prstGeom>
          <a:noFill/>
          <a:ln/>
        </p:spPr>
        <p:txBody>
          <a:bodyPr wrap="none" lIns="0" tIns="0" rIns="0" bIns="0" rtlCol="0" anchor="t"/>
          <a:lstStyle/>
          <a:p>
            <a:pPr algn="l" indent="0" marL="0">
              <a:lnSpc>
                <a:spcPct val="104000"/>
              </a:lnSpc>
              <a:buNone/>
            </a:pPr>
            <a:r>
              <a:rPr lang="en-US" sz="1400" dirty="0">
                <a:solidFill>
                  <a:srgbClr val="152D47"/>
                </a:solidFill>
                <a:latin typeface="Crimson Pro SemiBold" pitchFamily="34" charset="0"/>
                <a:ea typeface="Crimson Pro SemiBold" pitchFamily="34" charset="-122"/>
                <a:cs typeface="Crimson Pro SemiBold" pitchFamily="34" charset="-120"/>
              </a:rPr>
              <a:t>Authentication Flow</a:t>
            </a:r>
            <a:endParaRPr lang="en-US" sz="1400" dirty="0"/>
          </a:p>
        </p:txBody>
      </p:sp>
      <p:pic>
        <p:nvPicPr>
          <p:cNvPr id="6" name="Image 0" descr="preencoded.png">    </p:cNvPr>
          <p:cNvPicPr>
            <a:picLocks noChangeAspect="1"/>
          </p:cNvPicPr>
          <p:nvPr/>
        </p:nvPicPr>
        <p:blipFill>
          <a:blip r:embed="rId1"/>
          <a:stretch>
            <a:fillRect/>
          </a:stretch>
        </p:blipFill>
        <p:spPr>
          <a:xfrm>
            <a:off x="1680525" y="1878409"/>
            <a:ext cx="729438" cy="875407"/>
          </a:xfrm>
          <a:prstGeom prst="rect">
            <a:avLst/>
          </a:prstGeom>
        </p:spPr>
      </p:pic>
      <p:sp>
        <p:nvSpPr>
          <p:cNvPr id="7" name="Text 4"/>
          <p:cNvSpPr/>
          <p:nvPr/>
        </p:nvSpPr>
        <p:spPr>
          <a:xfrm>
            <a:off x="2522574" y="2024261"/>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Nhập thông tin</a:t>
            </a:r>
            <a:endParaRPr lang="en-US" sz="1400" dirty="0"/>
          </a:p>
        </p:txBody>
      </p:sp>
      <p:sp>
        <p:nvSpPr>
          <p:cNvPr id="8" name="Text 5"/>
          <p:cNvSpPr/>
          <p:nvPr/>
        </p:nvSpPr>
        <p:spPr>
          <a:xfrm>
            <a:off x="2522574" y="2364780"/>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Email, Password</a:t>
            </a:r>
            <a:endParaRPr lang="en-US" sz="1100" dirty="0"/>
          </a:p>
        </p:txBody>
      </p:sp>
      <p:pic>
        <p:nvPicPr>
          <p:cNvPr id="9" name="Image 1" descr="preencoded.png">    </p:cNvPr>
          <p:cNvPicPr>
            <a:picLocks noChangeAspect="1"/>
          </p:cNvPicPr>
          <p:nvPr/>
        </p:nvPicPr>
        <p:blipFill>
          <a:blip r:embed="rId2"/>
          <a:stretch>
            <a:fillRect/>
          </a:stretch>
        </p:blipFill>
        <p:spPr>
          <a:xfrm>
            <a:off x="1680525" y="2753816"/>
            <a:ext cx="729438" cy="875407"/>
          </a:xfrm>
          <a:prstGeom prst="rect">
            <a:avLst/>
          </a:prstGeom>
        </p:spPr>
      </p:pic>
      <p:sp>
        <p:nvSpPr>
          <p:cNvPr id="10" name="Text 6"/>
          <p:cNvSpPr/>
          <p:nvPr/>
        </p:nvSpPr>
        <p:spPr>
          <a:xfrm>
            <a:off x="2522574" y="2899668"/>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Validate dữ liệu</a:t>
            </a:r>
            <a:endParaRPr lang="en-US" sz="1400" dirty="0"/>
          </a:p>
        </p:txBody>
      </p:sp>
      <p:sp>
        <p:nvSpPr>
          <p:cNvPr id="11" name="Text 7"/>
          <p:cNvSpPr/>
          <p:nvPr/>
        </p:nvSpPr>
        <p:spPr>
          <a:xfrm>
            <a:off x="2522574" y="3240187"/>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Regex</a:t>
            </a:r>
            <a:endParaRPr lang="en-US" sz="1100" dirty="0"/>
          </a:p>
        </p:txBody>
      </p:sp>
      <p:pic>
        <p:nvPicPr>
          <p:cNvPr id="12" name="Image 2" descr="preencoded.png">    </p:cNvPr>
          <p:cNvPicPr>
            <a:picLocks noChangeAspect="1"/>
          </p:cNvPicPr>
          <p:nvPr/>
        </p:nvPicPr>
        <p:blipFill>
          <a:blip r:embed="rId3"/>
          <a:stretch>
            <a:fillRect/>
          </a:stretch>
        </p:blipFill>
        <p:spPr>
          <a:xfrm>
            <a:off x="1680525" y="3629223"/>
            <a:ext cx="729438" cy="875407"/>
          </a:xfrm>
          <a:prstGeom prst="rect">
            <a:avLst/>
          </a:prstGeom>
        </p:spPr>
      </p:pic>
      <p:sp>
        <p:nvSpPr>
          <p:cNvPr id="13" name="Text 8"/>
          <p:cNvSpPr/>
          <p:nvPr/>
        </p:nvSpPr>
        <p:spPr>
          <a:xfrm>
            <a:off x="2522574" y="3775075"/>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Tìm kiếm user</a:t>
            </a:r>
            <a:endParaRPr lang="en-US" sz="1400" dirty="0"/>
          </a:p>
        </p:txBody>
      </p:sp>
      <p:sp>
        <p:nvSpPr>
          <p:cNvPr id="14" name="Text 9"/>
          <p:cNvSpPr/>
          <p:nvPr/>
        </p:nvSpPr>
        <p:spPr>
          <a:xfrm>
            <a:off x="2522574" y="4115594"/>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Trong localStorage</a:t>
            </a:r>
            <a:endParaRPr lang="en-US" sz="1100" dirty="0"/>
          </a:p>
        </p:txBody>
      </p:sp>
      <p:pic>
        <p:nvPicPr>
          <p:cNvPr id="15" name="Image 3" descr="preencoded.png">    </p:cNvPr>
          <p:cNvPicPr>
            <a:picLocks noChangeAspect="1"/>
          </p:cNvPicPr>
          <p:nvPr/>
        </p:nvPicPr>
        <p:blipFill>
          <a:blip r:embed="rId4"/>
          <a:stretch>
            <a:fillRect/>
          </a:stretch>
        </p:blipFill>
        <p:spPr>
          <a:xfrm>
            <a:off x="1680525" y="4504630"/>
            <a:ext cx="729438" cy="875407"/>
          </a:xfrm>
          <a:prstGeom prst="rect">
            <a:avLst/>
          </a:prstGeom>
        </p:spPr>
      </p:pic>
      <p:sp>
        <p:nvSpPr>
          <p:cNvPr id="16" name="Text 10"/>
          <p:cNvSpPr/>
          <p:nvPr/>
        </p:nvSpPr>
        <p:spPr>
          <a:xfrm>
            <a:off x="2522574" y="4650482"/>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Khởi tạo session</a:t>
            </a:r>
            <a:endParaRPr lang="en-US" sz="1400" dirty="0"/>
          </a:p>
        </p:txBody>
      </p:sp>
      <p:sp>
        <p:nvSpPr>
          <p:cNvPr id="17" name="Text 11"/>
          <p:cNvSpPr/>
          <p:nvPr/>
        </p:nvSpPr>
        <p:spPr>
          <a:xfrm>
            <a:off x="2522574" y="4991001"/>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currentUser</a:t>
            </a:r>
            <a:endParaRPr lang="en-US" sz="1100" dirty="0"/>
          </a:p>
        </p:txBody>
      </p:sp>
      <p:sp>
        <p:nvSpPr>
          <p:cNvPr id="18" name="Text 12"/>
          <p:cNvSpPr/>
          <p:nvPr/>
        </p:nvSpPr>
        <p:spPr>
          <a:xfrm>
            <a:off x="6280191" y="1523901"/>
            <a:ext cx="2433279" cy="227905"/>
          </a:xfrm>
          <a:prstGeom prst="rect">
            <a:avLst/>
          </a:prstGeom>
          <a:noFill/>
          <a:ln/>
        </p:spPr>
        <p:txBody>
          <a:bodyPr wrap="none" lIns="0" tIns="0" rIns="0" bIns="0" rtlCol="0" anchor="t"/>
          <a:lstStyle/>
          <a:p>
            <a:pPr algn="l" indent="0" marL="0">
              <a:lnSpc>
                <a:spcPct val="104000"/>
              </a:lnSpc>
              <a:buNone/>
            </a:pPr>
            <a:r>
              <a:rPr lang="en-US" sz="1400" dirty="0">
                <a:solidFill>
                  <a:srgbClr val="152D47"/>
                </a:solidFill>
                <a:latin typeface="Crimson Pro SemiBold" pitchFamily="34" charset="0"/>
                <a:ea typeface="Crimson Pro SemiBold" pitchFamily="34" charset="-122"/>
                <a:cs typeface="Crimson Pro SemiBold" pitchFamily="34" charset="-120"/>
              </a:rPr>
              <a:t>Booking Flow</a:t>
            </a:r>
            <a:endParaRPr lang="en-US" sz="1400" dirty="0"/>
          </a:p>
        </p:txBody>
      </p:sp>
      <p:pic>
        <p:nvPicPr>
          <p:cNvPr id="19" name="Image 4" descr="preencoded.png">    </p:cNvPr>
          <p:cNvPicPr>
            <a:picLocks noChangeAspect="1"/>
          </p:cNvPicPr>
          <p:nvPr/>
        </p:nvPicPr>
        <p:blipFill>
          <a:blip r:embed="rId5"/>
          <a:stretch>
            <a:fillRect/>
          </a:stretch>
        </p:blipFill>
        <p:spPr>
          <a:xfrm>
            <a:off x="6280191" y="1878409"/>
            <a:ext cx="729438" cy="875407"/>
          </a:xfrm>
          <a:prstGeom prst="rect">
            <a:avLst/>
          </a:prstGeom>
        </p:spPr>
      </p:pic>
      <p:sp>
        <p:nvSpPr>
          <p:cNvPr id="20" name="Text 13"/>
          <p:cNvSpPr/>
          <p:nvPr/>
        </p:nvSpPr>
        <p:spPr>
          <a:xfrm>
            <a:off x="7122240" y="2024261"/>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Chọn Tour</a:t>
            </a:r>
            <a:endParaRPr lang="en-US" sz="1400" dirty="0"/>
          </a:p>
        </p:txBody>
      </p:sp>
      <p:pic>
        <p:nvPicPr>
          <p:cNvPr id="21" name="Image 5" descr="preencoded.png">    </p:cNvPr>
          <p:cNvPicPr>
            <a:picLocks noChangeAspect="1"/>
          </p:cNvPicPr>
          <p:nvPr/>
        </p:nvPicPr>
        <p:blipFill>
          <a:blip r:embed="rId6"/>
          <a:stretch>
            <a:fillRect/>
          </a:stretch>
        </p:blipFill>
        <p:spPr>
          <a:xfrm>
            <a:off x="6280191" y="2753816"/>
            <a:ext cx="729438" cy="875407"/>
          </a:xfrm>
          <a:prstGeom prst="rect">
            <a:avLst/>
          </a:prstGeom>
        </p:spPr>
      </p:pic>
      <p:sp>
        <p:nvSpPr>
          <p:cNvPr id="22" name="Text 14"/>
          <p:cNvSpPr/>
          <p:nvPr/>
        </p:nvSpPr>
        <p:spPr>
          <a:xfrm>
            <a:off x="7122240" y="2899668"/>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Điền Form</a:t>
            </a:r>
            <a:endParaRPr lang="en-US" sz="1400" dirty="0"/>
          </a:p>
        </p:txBody>
      </p:sp>
      <p:sp>
        <p:nvSpPr>
          <p:cNvPr id="23" name="Text 15"/>
          <p:cNvSpPr/>
          <p:nvPr/>
        </p:nvSpPr>
        <p:spPr>
          <a:xfrm>
            <a:off x="7122240" y="3240187"/>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Email, Phone, Quantity</a:t>
            </a:r>
            <a:endParaRPr lang="en-US" sz="1100" dirty="0"/>
          </a:p>
        </p:txBody>
      </p:sp>
      <p:pic>
        <p:nvPicPr>
          <p:cNvPr id="24" name="Image 6" descr="preencoded.png">    </p:cNvPr>
          <p:cNvPicPr>
            <a:picLocks noChangeAspect="1"/>
          </p:cNvPicPr>
          <p:nvPr/>
        </p:nvPicPr>
        <p:blipFill>
          <a:blip r:embed="rId7"/>
          <a:stretch>
            <a:fillRect/>
          </a:stretch>
        </p:blipFill>
        <p:spPr>
          <a:xfrm>
            <a:off x="6280191" y="3629223"/>
            <a:ext cx="729438" cy="875407"/>
          </a:xfrm>
          <a:prstGeom prst="rect">
            <a:avLst/>
          </a:prstGeom>
        </p:spPr>
      </p:pic>
      <p:sp>
        <p:nvSpPr>
          <p:cNvPr id="25" name="Text 16"/>
          <p:cNvSpPr/>
          <p:nvPr/>
        </p:nvSpPr>
        <p:spPr>
          <a:xfrm>
            <a:off x="7122240" y="3775075"/>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Validate &amp; Tính giá</a:t>
            </a:r>
            <a:endParaRPr lang="en-US" sz="1400" dirty="0"/>
          </a:p>
        </p:txBody>
      </p:sp>
      <p:pic>
        <p:nvPicPr>
          <p:cNvPr id="26" name="Image 7" descr="preencoded.png">    </p:cNvPr>
          <p:cNvPicPr>
            <a:picLocks noChangeAspect="1"/>
          </p:cNvPicPr>
          <p:nvPr/>
        </p:nvPicPr>
        <p:blipFill>
          <a:blip r:embed="rId8"/>
          <a:stretch>
            <a:fillRect/>
          </a:stretch>
        </p:blipFill>
        <p:spPr>
          <a:xfrm>
            <a:off x="6280191" y="4504630"/>
            <a:ext cx="729438" cy="875407"/>
          </a:xfrm>
          <a:prstGeom prst="rect">
            <a:avLst/>
          </a:prstGeom>
        </p:spPr>
      </p:pic>
      <p:sp>
        <p:nvSpPr>
          <p:cNvPr id="27" name="Text 17"/>
          <p:cNvSpPr/>
          <p:nvPr/>
        </p:nvSpPr>
        <p:spPr>
          <a:xfrm>
            <a:off x="7122240" y="4650482"/>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Tạo Ticket</a:t>
            </a:r>
            <a:endParaRPr lang="en-US" sz="1400" dirty="0"/>
          </a:p>
        </p:txBody>
      </p:sp>
      <p:sp>
        <p:nvSpPr>
          <p:cNvPr id="28" name="Text 18"/>
          <p:cNvSpPr/>
          <p:nvPr/>
        </p:nvSpPr>
        <p:spPr>
          <a:xfrm>
            <a:off x="7122240" y="4991001"/>
            <a:ext cx="3395280" cy="206871"/>
          </a:xfrm>
          <a:prstGeom prst="rect">
            <a:avLst/>
          </a:prstGeom>
          <a:noFill/>
          <a:ln/>
        </p:spPr>
        <p:txBody>
          <a:bodyPr wrap="none" lIns="0" tIns="0" rIns="0" bIns="0" rtlCol="0" anchor="t"/>
          <a:lstStyle/>
          <a:p>
            <a:pPr algn="l" indent="0" marL="0">
              <a:lnSpc>
                <a:spcPct val="118000"/>
              </a:lnSpc>
              <a:buNone/>
            </a:pPr>
            <a:r>
              <a:rPr lang="en-US" sz="1100" dirty="0">
                <a:solidFill>
                  <a:srgbClr val="4C4C4D"/>
                </a:solidFill>
                <a:latin typeface="Heebo" pitchFamily="34" charset="0"/>
                <a:ea typeface="Heebo" pitchFamily="34" charset="-122"/>
                <a:cs typeface="Heebo" pitchFamily="34" charset="-120"/>
              </a:rPr>
              <a:t>ID động</a:t>
            </a:r>
            <a:endParaRPr lang="en-US" sz="1100" dirty="0"/>
          </a:p>
        </p:txBody>
      </p:sp>
      <p:pic>
        <p:nvPicPr>
          <p:cNvPr id="29" name="Image 8" descr="preencoded.png">    </p:cNvPr>
          <p:cNvPicPr>
            <a:picLocks noChangeAspect="1"/>
          </p:cNvPicPr>
          <p:nvPr/>
        </p:nvPicPr>
        <p:blipFill>
          <a:blip r:embed="rId9"/>
          <a:stretch>
            <a:fillRect/>
          </a:stretch>
        </p:blipFill>
        <p:spPr>
          <a:xfrm>
            <a:off x="6280191" y="5380038"/>
            <a:ext cx="729438" cy="875407"/>
          </a:xfrm>
          <a:prstGeom prst="rect">
            <a:avLst/>
          </a:prstGeom>
        </p:spPr>
      </p:pic>
      <p:sp>
        <p:nvSpPr>
          <p:cNvPr id="30" name="Text 19"/>
          <p:cNvSpPr/>
          <p:nvPr/>
        </p:nvSpPr>
        <p:spPr>
          <a:xfrm>
            <a:off x="7122240" y="5525889"/>
            <a:ext cx="1823694" cy="227905"/>
          </a:xfrm>
          <a:prstGeom prst="rect">
            <a:avLst/>
          </a:prstGeom>
          <a:noFill/>
          <a:ln/>
        </p:spPr>
        <p:txBody>
          <a:bodyPr wrap="none" lIns="0" tIns="0" rIns="0" bIns="0" rtlCol="0" anchor="t"/>
          <a:lstStyle/>
          <a:p>
            <a:pPr algn="l" indent="0" marL="0">
              <a:lnSpc>
                <a:spcPct val="104000"/>
              </a:lnSpc>
              <a:buNone/>
            </a:pPr>
            <a:r>
              <a:rPr lang="en-US" sz="1400" dirty="0">
                <a:solidFill>
                  <a:srgbClr val="4C4C4D"/>
                </a:solidFill>
                <a:latin typeface="Crimson Pro SemiBold" pitchFamily="34" charset="0"/>
                <a:ea typeface="Crimson Pro SemiBold" pitchFamily="34" charset="-122"/>
                <a:cs typeface="Crimson Pro SemiBold" pitchFamily="34" charset="-120"/>
              </a:rPr>
              <a:t>Lưu vào localStorage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16262" y="512068"/>
            <a:ext cx="1579325" cy="241796"/>
          </a:xfrm>
          <a:prstGeom prst="roundRect">
            <a:avLst>
              <a:gd name="adj" fmla="val 6706"/>
            </a:avLst>
          </a:prstGeom>
          <a:noFill/>
          <a:ln w="6350">
            <a:solidFill>
              <a:srgbClr val="2150FE"/>
            </a:solidFill>
            <a:prstDash val="solid"/>
          </a:ln>
        </p:spPr>
      </p:sp>
      <p:sp>
        <p:nvSpPr>
          <p:cNvPr id="3" name="Text 1"/>
          <p:cNvSpPr/>
          <p:nvPr/>
        </p:nvSpPr>
        <p:spPr>
          <a:xfrm>
            <a:off x="1003672" y="558899"/>
            <a:ext cx="2014090" cy="148134"/>
          </a:xfrm>
          <a:prstGeom prst="rect">
            <a:avLst/>
          </a:prstGeom>
          <a:noFill/>
          <a:ln/>
        </p:spPr>
        <p:txBody>
          <a:bodyPr wrap="none" lIns="0" tIns="0" rIns="0" bIns="0" rtlCol="0" anchor="t"/>
          <a:lstStyle/>
          <a:p>
            <a:pPr algn="l" indent="0" marL="0">
              <a:lnSpc>
                <a:spcPct val="114000"/>
              </a:lnSpc>
              <a:buNone/>
            </a:pPr>
            <a:r>
              <a:rPr lang="en-US" sz="850" dirty="0">
                <a:solidFill>
                  <a:srgbClr val="2150FE"/>
                </a:solidFill>
                <a:latin typeface="Heebo" pitchFamily="34" charset="0"/>
                <a:ea typeface="Heebo" pitchFamily="34" charset="-122"/>
                <a:cs typeface="Heebo" pitchFamily="34" charset="-120"/>
              </a:rPr>
              <a:t>CẤU TRÚC &amp; LUỒNG DỮ LIỆU</a:t>
            </a:r>
            <a:endParaRPr lang="en-US" sz="850" dirty="0"/>
          </a:p>
        </p:txBody>
      </p:sp>
      <p:sp>
        <p:nvSpPr>
          <p:cNvPr id="4" name="Text 2"/>
          <p:cNvSpPr/>
          <p:nvPr/>
        </p:nvSpPr>
        <p:spPr>
          <a:xfrm>
            <a:off x="916262" y="792460"/>
            <a:ext cx="7576055" cy="422275"/>
          </a:xfrm>
          <a:prstGeom prst="rect">
            <a:avLst/>
          </a:prstGeom>
          <a:noFill/>
          <a:ln/>
        </p:spPr>
        <p:txBody>
          <a:bodyPr wrap="none" lIns="0" tIns="0" rIns="0" bIns="0" rtlCol="0" anchor="t"/>
          <a:lstStyle/>
          <a:p>
            <a:pPr algn="l" indent="0" marL="0">
              <a:lnSpc>
                <a:spcPct val="104000"/>
              </a:lnSpc>
              <a:buNone/>
            </a:pPr>
            <a:r>
              <a:rPr lang="en-US" sz="2650" dirty="0">
                <a:solidFill>
                  <a:srgbClr val="152D47"/>
                </a:solidFill>
                <a:latin typeface="Crimson Pro SemiBold" pitchFamily="34" charset="0"/>
                <a:ea typeface="Crimson Pro SemiBold" pitchFamily="34" charset="-122"/>
                <a:cs typeface="Crimson Pro SemiBold" pitchFamily="34" charset="-120"/>
              </a:rPr>
              <a:t>Cấu Trúc Thư Mục &amp; Luồng Hoạt Động Tổng Quát</a:t>
            </a:r>
            <a:endParaRPr lang="en-US" sz="2650" dirty="0"/>
          </a:p>
        </p:txBody>
      </p:sp>
      <p:sp>
        <p:nvSpPr>
          <p:cNvPr id="5" name="Text 3"/>
          <p:cNvSpPr/>
          <p:nvPr/>
        </p:nvSpPr>
        <p:spPr>
          <a:xfrm>
            <a:off x="916262" y="1456134"/>
            <a:ext cx="2518803" cy="217388"/>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 Project Folder Structure</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6262" y="1782167"/>
            <a:ext cx="5014688" cy="813792"/>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178" y="2087662"/>
            <a:ext cx="202600" cy="202605"/>
          </a:xfrm>
          <a:prstGeom prst="rect">
            <a:avLst/>
          </a:prstGeom>
        </p:spPr>
      </p:pic>
      <p:sp>
        <p:nvSpPr>
          <p:cNvPr id="8" name="Text 4"/>
          <p:cNvSpPr/>
          <p:nvPr/>
        </p:nvSpPr>
        <p:spPr>
          <a:xfrm>
            <a:off x="1572280" y="1936254"/>
            <a:ext cx="1688959" cy="211038"/>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CSS/</a:t>
            </a:r>
            <a:endParaRPr lang="en-US" sz="1300" dirty="0"/>
          </a:p>
        </p:txBody>
      </p:sp>
      <p:sp>
        <p:nvSpPr>
          <p:cNvPr id="9" name="Text 5"/>
          <p:cNvSpPr/>
          <p:nvPr/>
        </p:nvSpPr>
        <p:spPr>
          <a:xfrm>
            <a:off x="1572280" y="2243832"/>
            <a:ext cx="4204587" cy="198041"/>
          </a:xfrm>
          <a:prstGeom prst="rect">
            <a:avLst/>
          </a:prstGeom>
          <a:noFill/>
          <a:ln/>
        </p:spPr>
        <p:txBody>
          <a:bodyPr wrap="none" lIns="0" tIns="0" rIns="0" bIns="0" rtlCol="0" anchor="t"/>
          <a:lstStyle/>
          <a:p>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style.css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 Style tổng thể, CSS variables theme</a:t>
            </a:r>
            <a:endParaRPr lang="en-US" sz="10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6262" y="2692499"/>
            <a:ext cx="5014688" cy="813792"/>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4178" y="2997994"/>
            <a:ext cx="202600" cy="202605"/>
          </a:xfrm>
          <a:prstGeom prst="rect">
            <a:avLst/>
          </a:prstGeom>
        </p:spPr>
      </p:pic>
      <p:sp>
        <p:nvSpPr>
          <p:cNvPr id="12" name="Text 6"/>
          <p:cNvSpPr/>
          <p:nvPr/>
        </p:nvSpPr>
        <p:spPr>
          <a:xfrm>
            <a:off x="1572280" y="2846586"/>
            <a:ext cx="1688959" cy="211038"/>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DATA/</a:t>
            </a:r>
            <a:endParaRPr lang="en-US" sz="1300" dirty="0"/>
          </a:p>
        </p:txBody>
      </p:sp>
      <p:sp>
        <p:nvSpPr>
          <p:cNvPr id="13" name="Text 7"/>
          <p:cNvSpPr/>
          <p:nvPr/>
        </p:nvSpPr>
        <p:spPr>
          <a:xfrm>
            <a:off x="1572280" y="3154164"/>
            <a:ext cx="4204587" cy="198041"/>
          </a:xfrm>
          <a:prstGeom prst="rect">
            <a:avLst/>
          </a:prstGeom>
          <a:noFill/>
          <a:ln/>
        </p:spPr>
        <p:txBody>
          <a:bodyPr wrap="none" lIns="0" tIns="0" rIns="0" bIns="0" rtlCol="0" anchor="t"/>
          <a:lstStyle/>
          <a:p>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data.js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 Mô phỏng DB tĩnh (tours, customers, tickets, rates)</a:t>
            </a:r>
            <a:endParaRPr lang="en-US" sz="10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6262" y="3602831"/>
            <a:ext cx="5014688" cy="813792"/>
          </a:xfrm>
          <a:prstGeom prst="rect">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4178" y="3908326"/>
            <a:ext cx="202600" cy="202605"/>
          </a:xfrm>
          <a:prstGeom prst="rect">
            <a:avLst/>
          </a:prstGeom>
        </p:spPr>
      </p:pic>
      <p:sp>
        <p:nvSpPr>
          <p:cNvPr id="16" name="Text 8"/>
          <p:cNvSpPr/>
          <p:nvPr/>
        </p:nvSpPr>
        <p:spPr>
          <a:xfrm>
            <a:off x="1572280" y="3756918"/>
            <a:ext cx="1688959" cy="211038"/>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MODULES/</a:t>
            </a:r>
            <a:endParaRPr lang="en-US" sz="1300" dirty="0"/>
          </a:p>
        </p:txBody>
      </p:sp>
      <p:sp>
        <p:nvSpPr>
          <p:cNvPr id="17" name="Text 9"/>
          <p:cNvSpPr/>
          <p:nvPr/>
        </p:nvSpPr>
        <p:spPr>
          <a:xfrm>
            <a:off x="1572280" y="4064496"/>
            <a:ext cx="4204587" cy="198041"/>
          </a:xfrm>
          <a:prstGeom prst="rect">
            <a:avLst/>
          </a:prstGeom>
          <a:noFill/>
          <a:ln/>
        </p:spPr>
        <p:txBody>
          <a:bodyPr wrap="none" lIns="0" tIns="0" rIns="0" bIns="0" rtlCol="0" anchor="t"/>
          <a:lstStyle/>
          <a:p>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auth.js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a:t>
            </a:r>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tour.js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 Bắt sự kiện &amp; điều phối</a:t>
            </a:r>
            <a:endParaRPr lang="en-US" sz="1050" dirty="0"/>
          </a:p>
        </p:txBody>
      </p:sp>
      <p:pic>
        <p:nvPicPr>
          <p:cNvPr id="1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6262" y="4513163"/>
            <a:ext cx="5014688" cy="813792"/>
          </a:xfrm>
          <a:prstGeom prst="rect">
            <a:avLst/>
          </a:prstGeom>
        </p:spPr>
      </p:pic>
      <p:pic>
        <p:nvPicPr>
          <p:cNvPr id="1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04178" y="4818658"/>
            <a:ext cx="202600" cy="202605"/>
          </a:xfrm>
          <a:prstGeom prst="rect">
            <a:avLst/>
          </a:prstGeom>
        </p:spPr>
      </p:pic>
      <p:sp>
        <p:nvSpPr>
          <p:cNvPr id="20" name="Text 10"/>
          <p:cNvSpPr/>
          <p:nvPr/>
        </p:nvSpPr>
        <p:spPr>
          <a:xfrm>
            <a:off x="1572280" y="4667250"/>
            <a:ext cx="1688959" cy="211038"/>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SERVICES/</a:t>
            </a:r>
            <a:endParaRPr lang="en-US" sz="1300" dirty="0"/>
          </a:p>
        </p:txBody>
      </p:sp>
      <p:sp>
        <p:nvSpPr>
          <p:cNvPr id="21" name="Text 11"/>
          <p:cNvSpPr/>
          <p:nvPr/>
        </p:nvSpPr>
        <p:spPr>
          <a:xfrm>
            <a:off x="1572280" y="4974828"/>
            <a:ext cx="4204587" cy="198041"/>
          </a:xfrm>
          <a:prstGeom prst="rect">
            <a:avLst/>
          </a:prstGeom>
          <a:noFill/>
          <a:ln/>
        </p:spPr>
        <p:txBody>
          <a:bodyPr wrap="none" lIns="0" tIns="0" rIns="0" bIns="0" rtlCol="0" anchor="t"/>
          <a:lstStyle/>
          <a:p>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bookingServices.js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a:t>
            </a:r>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tourServices.js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 Xử lý logic nghiệp vụ</a:t>
            </a:r>
            <a:endParaRPr lang="en-US" sz="1050" dirty="0"/>
          </a:p>
        </p:txBody>
      </p:sp>
      <p:pic>
        <p:nvPicPr>
          <p:cNvPr id="2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16262" y="5423495"/>
            <a:ext cx="5014688" cy="813792"/>
          </a:xfrm>
          <a:prstGeom prst="rect">
            <a:avLst/>
          </a:prstGeom>
        </p:spPr>
      </p:pic>
      <p:pic>
        <p:nvPicPr>
          <p:cNvPr id="2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04178" y="5728990"/>
            <a:ext cx="202600" cy="202605"/>
          </a:xfrm>
          <a:prstGeom prst="rect">
            <a:avLst/>
          </a:prstGeom>
        </p:spPr>
      </p:pic>
      <p:sp>
        <p:nvSpPr>
          <p:cNvPr id="24" name="Text 12"/>
          <p:cNvSpPr/>
          <p:nvPr/>
        </p:nvSpPr>
        <p:spPr>
          <a:xfrm>
            <a:off x="1572280" y="5577582"/>
            <a:ext cx="1688959" cy="211038"/>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STORAGE/ &amp; UI/</a:t>
            </a:r>
            <a:endParaRPr lang="en-US" sz="1300" dirty="0"/>
          </a:p>
        </p:txBody>
      </p:sp>
      <p:sp>
        <p:nvSpPr>
          <p:cNvPr id="25" name="Text 13"/>
          <p:cNvSpPr/>
          <p:nvPr/>
        </p:nvSpPr>
        <p:spPr>
          <a:xfrm>
            <a:off x="1572280" y="5885160"/>
            <a:ext cx="4204587" cy="198041"/>
          </a:xfrm>
          <a:prstGeom prst="rect">
            <a:avLst/>
          </a:prstGeom>
          <a:noFill/>
          <a:ln/>
        </p:spPr>
        <p:txBody>
          <a:bodyPr wrap="none" lIns="0" tIns="0" rIns="0" bIns="0" rtlCol="0" anchor="t"/>
          <a:lstStyle/>
          <a:p>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storage.js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wrapper · </a:t>
            </a:r>
            <a:pPr algn="l" indent="0" marL="0">
              <a:lnSpc>
                <a:spcPct val="114000"/>
              </a:lnSpc>
              <a:buNone/>
            </a:pPr>
            <a:r>
              <a:rPr lang="en-US" sz="1050" dirty="0">
                <a:solidFill>
                  <a:srgbClr val="4C4C4D"/>
                </a:solidFill>
                <a:highlight>
                  <a:srgbClr val="F2F2F2"/>
                </a:highlight>
                <a:latin typeface="Consolas" pitchFamily="34" charset="0"/>
                <a:ea typeface="Consolas" pitchFamily="34" charset="-122"/>
                <a:cs typeface="Consolas" pitchFamily="34" charset="-120"/>
              </a:rPr>
              <a:t>tourUi.js</a:t>
            </a:r>
            <a:pPr algn="l" indent="0" marL="0">
              <a:lnSpc>
                <a:spcPct val="114000"/>
              </a:lnSpc>
              <a:buNone/>
            </a:pPr>
            <a:r>
              <a:rPr lang="en-US" sz="1050" dirty="0">
                <a:solidFill>
                  <a:srgbClr val="4C4C4D"/>
                </a:solidFill>
                <a:latin typeface="Heebo" pitchFamily="34" charset="0"/>
                <a:ea typeface="Heebo" pitchFamily="34" charset="-122"/>
                <a:cs typeface="Heebo" pitchFamily="34" charset="-120"/>
              </a:rPr>
              <a:t> render DOM</a:t>
            </a:r>
            <a:endParaRPr lang="en-US" sz="1050" dirty="0"/>
          </a:p>
        </p:txBody>
      </p:sp>
      <p:sp>
        <p:nvSpPr>
          <p:cNvPr id="26" name="Text 14"/>
          <p:cNvSpPr/>
          <p:nvPr/>
        </p:nvSpPr>
        <p:spPr>
          <a:xfrm>
            <a:off x="6266896" y="1456134"/>
            <a:ext cx="4632705" cy="217388"/>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 Luồng Hoạt Động — appState (Single Source of Truth)</a:t>
            </a:r>
            <a:endParaRPr lang="en-US" sz="1300" dirty="0"/>
          </a:p>
        </p:txBody>
      </p:sp>
      <p:sp>
        <p:nvSpPr>
          <p:cNvPr id="27" name="Text 15"/>
          <p:cNvSpPr/>
          <p:nvPr/>
        </p:nvSpPr>
        <p:spPr>
          <a:xfrm>
            <a:off x="6266896" y="1770063"/>
            <a:ext cx="5014688" cy="457597"/>
          </a:xfrm>
          <a:prstGeom prst="rect">
            <a:avLst/>
          </a:prstGeom>
          <a:noFill/>
          <a:ln/>
        </p:spPr>
        <p:txBody>
          <a:bodyPr wrap="square" lIns="0" tIns="0" rIns="0" bIns="0" rtlCol="0" anchor="t"/>
          <a:lstStyle/>
          <a:p>
            <a:pPr algn="l" indent="0" marL="0">
              <a:lnSpc>
                <a:spcPct val="114000"/>
              </a:lnSpc>
              <a:spcAft>
                <a:spcPts val="2100"/>
              </a:spcAft>
              <a:buNone/>
            </a:pPr>
            <a:endParaRPr lang="en-US" sz="1050" dirty="0"/>
          </a:p>
        </p:txBody>
      </p:sp>
      <p:pic>
        <p:nvPicPr>
          <p:cNvPr id="28" name="Image 10" descr="preencoded.png">    </p:cNvPr>
          <p:cNvPicPr>
            <a:picLocks noChangeAspect="1"/>
          </p:cNvPicPr>
          <p:nvPr/>
        </p:nvPicPr>
        <p:blipFill>
          <a:blip r:embed="rId21"/>
          <a:stretch>
            <a:fillRect/>
          </a:stretch>
        </p:blipFill>
        <p:spPr>
          <a:xfrm>
            <a:off x="6893745" y="2336304"/>
            <a:ext cx="3760991" cy="1721247"/>
          </a:xfrm>
          <a:prstGeom prst="rect">
            <a:avLst/>
          </a:prstGeom>
        </p:spPr>
      </p:pic>
      <p:sp>
        <p:nvSpPr>
          <p:cNvPr id="29" name="Text 16"/>
          <p:cNvSpPr/>
          <p:nvPr/>
        </p:nvSpPr>
        <p:spPr>
          <a:xfrm>
            <a:off x="9773508" y="3580800"/>
            <a:ext cx="706066" cy="272035"/>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Cập nhật giao diện</a:t>
            </a:r>
            <a:endParaRPr lang="en-US" sz="850" dirty="0"/>
          </a:p>
        </p:txBody>
      </p:sp>
      <p:sp>
        <p:nvSpPr>
          <p:cNvPr id="30" name="Text 17"/>
          <p:cNvSpPr/>
          <p:nvPr/>
        </p:nvSpPr>
        <p:spPr>
          <a:xfrm>
            <a:off x="8883671" y="3580800"/>
            <a:ext cx="706066" cy="272035"/>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Gọi hàm Render</a:t>
            </a:r>
            <a:endParaRPr lang="en-US" sz="850" dirty="0"/>
          </a:p>
        </p:txBody>
      </p:sp>
      <p:sp>
        <p:nvSpPr>
          <p:cNvPr id="31" name="Text 18"/>
          <p:cNvSpPr/>
          <p:nvPr/>
        </p:nvSpPr>
        <p:spPr>
          <a:xfrm>
            <a:off x="7998671" y="3580800"/>
            <a:ext cx="706066" cy="272035"/>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Cập nhật trạng thái</a:t>
            </a:r>
            <a:endParaRPr lang="en-US" sz="850" dirty="0"/>
          </a:p>
        </p:txBody>
      </p:sp>
      <p:sp>
        <p:nvSpPr>
          <p:cNvPr id="32" name="Text 19"/>
          <p:cNvSpPr/>
          <p:nvPr/>
        </p:nvSpPr>
        <p:spPr>
          <a:xfrm>
            <a:off x="7094326" y="3648809"/>
            <a:ext cx="706066" cy="136018"/>
          </a:xfrm>
          <a:prstGeom prst="rect">
            <a:avLst/>
          </a:prstGeom>
          <a:noFill/>
          <a:ln/>
        </p:spPr>
        <p:txBody>
          <a:bodyPr wrap="none" lIns="0" tIns="0" rIns="0" bIns="0" rtlCol="0" anchor="t"/>
          <a:lstStyle/>
          <a:p>
            <a:pPr algn="ctr"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Tương tác</a:t>
            </a:r>
            <a:endParaRPr lang="en-US" sz="850" dirty="0"/>
          </a:p>
        </p:txBody>
      </p:sp>
      <p:sp>
        <p:nvSpPr>
          <p:cNvPr id="33" name="Text 20"/>
          <p:cNvSpPr/>
          <p:nvPr/>
        </p:nvSpPr>
        <p:spPr>
          <a:xfrm>
            <a:off x="6266896" y="4166195"/>
            <a:ext cx="5624273" cy="148134"/>
          </a:xfrm>
          <a:prstGeom prst="rect">
            <a:avLst/>
          </a:prstGeom>
          <a:noFill/>
          <a:ln/>
        </p:spPr>
        <p:txBody>
          <a:bodyPr wrap="none" lIns="0" tIns="0" rIns="0" bIns="0" rtlCol="0" anchor="t"/>
          <a:lstStyle/>
          <a:p>
            <a:pPr algn="l" indent="0" marL="0">
              <a:lnSpc>
                <a:spcPct val="114000"/>
              </a:lnSpc>
              <a:buNone/>
            </a:pPr>
            <a:r>
              <a:rPr lang="en-US" sz="850" dirty="0">
                <a:solidFill>
                  <a:srgbClr val="4C4C4D"/>
                </a:solidFill>
                <a:latin typeface="Heebo" pitchFamily="34" charset="0"/>
                <a:ea typeface="Heebo" pitchFamily="34" charset="-122"/>
                <a:cs typeface="Heebo" pitchFamily="34" charset="-120"/>
              </a:rPr>
              <a:t>Ưu điểm: Tránh xung đột dữ liệu · Dễ dàng truyền trạng thái giữa các luồng · Không cần F5 trang.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574" y="531416"/>
            <a:ext cx="1891657" cy="299045"/>
          </a:xfrm>
          <a:prstGeom prst="roundRect">
            <a:avLst>
              <a:gd name="adj" fmla="val 6447"/>
            </a:avLst>
          </a:prstGeom>
          <a:noFill/>
          <a:ln w="6350">
            <a:solidFill>
              <a:srgbClr val="2150FE"/>
            </a:solidFill>
            <a:prstDash val="solid"/>
          </a:ln>
        </p:spPr>
      </p:sp>
      <p:sp>
        <p:nvSpPr>
          <p:cNvPr id="3" name="Text 1"/>
          <p:cNvSpPr/>
          <p:nvPr/>
        </p:nvSpPr>
        <p:spPr>
          <a:xfrm>
            <a:off x="764263" y="585887"/>
            <a:ext cx="2295864" cy="190103"/>
          </a:xfrm>
          <a:prstGeom prst="rect">
            <a:avLst/>
          </a:prstGeom>
          <a:noFill/>
          <a:ln/>
        </p:spPr>
        <p:txBody>
          <a:bodyPr wrap="none" lIns="0" tIns="0" rIns="0" bIns="0" rtlCol="0" anchor="t"/>
          <a:lstStyle/>
          <a:p>
            <a:pPr algn="l" indent="0" marL="0">
              <a:lnSpc>
                <a:spcPct val="123000"/>
              </a:lnSpc>
              <a:buNone/>
            </a:pPr>
            <a:r>
              <a:rPr lang="en-US" sz="1000" dirty="0">
                <a:solidFill>
                  <a:srgbClr val="2150FE"/>
                </a:solidFill>
                <a:latin typeface="Heebo" pitchFamily="34" charset="0"/>
                <a:ea typeface="Heebo" pitchFamily="34" charset="-122"/>
                <a:cs typeface="Heebo" pitchFamily="34" charset="-120"/>
              </a:rPr>
              <a:t>APPSTATE &amp; LUỒNG DỮ LIỆU</a:t>
            </a:r>
            <a:endParaRPr lang="en-US" sz="1000" dirty="0"/>
          </a:p>
        </p:txBody>
      </p:sp>
      <p:sp>
        <p:nvSpPr>
          <p:cNvPr id="4" name="Text 2"/>
          <p:cNvSpPr/>
          <p:nvPr/>
        </p:nvSpPr>
        <p:spPr>
          <a:xfrm>
            <a:off x="661574" y="885031"/>
            <a:ext cx="9080670" cy="502047"/>
          </a:xfrm>
          <a:prstGeom prst="rect">
            <a:avLst/>
          </a:prstGeom>
          <a:noFill/>
          <a:ln/>
        </p:spPr>
        <p:txBody>
          <a:bodyPr wrap="none" lIns="0" tIns="0" rIns="0" bIns="0" rtlCol="0" anchor="t"/>
          <a:lstStyle/>
          <a:p>
            <a:pPr algn="l" indent="0" marL="0">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appState: Single Source of Truth &amp; Cơ chế Cập nhật</a:t>
            </a:r>
            <a:endParaRPr lang="en-US" sz="3150" dirty="0"/>
          </a:p>
        </p:txBody>
      </p:sp>
      <p:sp>
        <p:nvSpPr>
          <p:cNvPr id="5" name="Text 3"/>
          <p:cNvSpPr/>
          <p:nvPr/>
        </p:nvSpPr>
        <p:spPr>
          <a:xfrm>
            <a:off x="661574" y="1591866"/>
            <a:ext cx="10868547" cy="4881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       </a:t>
            </a:r>
            <a:pPr algn="l" indent="0" marL="0">
              <a:lnSpc>
                <a:spcPct val="123000"/>
              </a:lnSpc>
              <a:buNone/>
            </a:pPr>
            <a:r>
              <a:rPr lang="en-US" sz="1250" dirty="0">
                <a:solidFill>
                  <a:srgbClr val="4C4C4D"/>
                </a:solidFill>
                <a:highlight>
                  <a:srgbClr val="F2F2F2"/>
                </a:highlight>
                <a:latin typeface="Consolas" pitchFamily="34" charset="0"/>
                <a:ea typeface="Consolas" pitchFamily="34" charset="-122"/>
                <a:cs typeface="Consolas" pitchFamily="34" charset="-120"/>
              </a:rPr>
              <a:t>appState</a:t>
            </a:r>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 là đối tượng JavaScript toàn cục đóng vai trò là "nguồn chân lý duy nhất" (Single Source of Truth) cho toàn bộ ứng dụng. Mọi dữ liệu cốt lõi đều được quản lý tập trung tại đây.     </a:t>
            </a:r>
            <a:endParaRPr lang="en-US" sz="1250" dirty="0"/>
          </a:p>
        </p:txBody>
      </p:sp>
      <p:pic>
        <p:nvPicPr>
          <p:cNvPr id="6" name="Image 0" descr="preencoded.png">    </p:cNvPr>
          <p:cNvPicPr>
            <a:picLocks noChangeAspect="1"/>
          </p:cNvPicPr>
          <p:nvPr/>
        </p:nvPicPr>
        <p:blipFill>
          <a:blip r:embed="rId1"/>
          <a:stretch>
            <a:fillRect/>
          </a:stretch>
        </p:blipFill>
        <p:spPr>
          <a:xfrm>
            <a:off x="661574" y="2387203"/>
            <a:ext cx="5409668" cy="3042940"/>
          </a:xfrm>
          <a:prstGeom prst="rect">
            <a:avLst/>
          </a:prstGeom>
        </p:spPr>
      </p:pic>
      <p:sp>
        <p:nvSpPr>
          <p:cNvPr id="7" name="Text 4"/>
          <p:cNvSpPr/>
          <p:nvPr/>
        </p:nvSpPr>
        <p:spPr>
          <a:xfrm>
            <a:off x="661574" y="5583734"/>
            <a:ext cx="6364327" cy="392906"/>
          </a:xfrm>
          <a:prstGeom prst="rect">
            <a:avLst/>
          </a:prstGeom>
          <a:noFill/>
          <a:ln/>
        </p:spPr>
        <p:txBody>
          <a:bodyPr wrap="square" lIns="0" tIns="0" rIns="0" bIns="0" rtlCol="0" anchor="t">
            <a:normAutofit/>
          </a:bodyPr>
          <a:lstStyle/>
          <a:p>
            <a:pPr algn="ctr" indent="0" marL="0">
              <a:lnSpc>
                <a:spcPct val="123000"/>
              </a:lnSpc>
              <a:buNone/>
            </a:pPr>
            <a:r>
              <a:rPr lang="en-US" sz="1000" dirty="0">
                <a:solidFill>
                  <a:srgbClr val="4C4C4D"/>
                </a:solidFill>
                <a:latin typeface="Heebo" pitchFamily="34" charset="0"/>
                <a:ea typeface="Heebo" pitchFamily="34" charset="-122"/>
                <a:cs typeface="Heebo" pitchFamily="34" charset="-120"/>
              </a:rPr>
              <a:t>           </a:t>
            </a:r>
            <a:pPr algn="ctr" indent="0" marL="0">
              <a:lnSpc>
                <a:spcPct val="123000"/>
              </a:lnSpc>
              <a:buNone/>
            </a:pPr>
            <a:r>
              <a:rPr lang="en-US" sz="1000" dirty="0">
                <a:solidFill>
                  <a:srgbClr val="4C4C4D"/>
                </a:solidFill>
                <a:highlight>
                  <a:srgbClr val="F2F2F2"/>
                </a:highlight>
                <a:latin typeface="Consolas" pitchFamily="34" charset="0"/>
                <a:ea typeface="Consolas" pitchFamily="34" charset="-122"/>
                <a:cs typeface="Consolas" pitchFamily="34" charset="-120"/>
              </a:rPr>
              <a:t>appState</a:t>
            </a:r>
            <a:pPr algn="ctr" indent="0" marL="0">
              <a:lnSpc>
                <a:spcPct val="123000"/>
              </a:lnSpc>
              <a:buNone/>
            </a:pPr>
            <a:r>
              <a:rPr lang="en-US" sz="1000" dirty="0">
                <a:solidFill>
                  <a:srgbClr val="4C4C4D"/>
                </a:solidFill>
                <a:latin typeface="Heebo" pitchFamily="34" charset="0"/>
                <a:ea typeface="Heebo" pitchFamily="34" charset="-122"/>
                <a:cs typeface="Heebo" pitchFamily="34" charset="-120"/>
              </a:rPr>
              <a:t> là trung tâm điều phối, đảm bảo mọi thành phần UI hiển thị dữ liệu nhất quán và luôn được cập nhật.         </a:t>
            </a:r>
            <a:endParaRPr lang="en-US" sz="1000" dirty="0"/>
          </a:p>
        </p:txBody>
      </p:sp>
      <p:sp>
        <p:nvSpPr>
          <p:cNvPr id="8" name="Text 5"/>
          <p:cNvSpPr/>
          <p:nvPr/>
        </p:nvSpPr>
        <p:spPr>
          <a:xfrm>
            <a:off x="7424155" y="2370138"/>
            <a:ext cx="2617821" cy="251023"/>
          </a:xfrm>
          <a:prstGeom prst="rect">
            <a:avLst/>
          </a:prstGeom>
          <a:noFill/>
          <a:ln/>
        </p:spPr>
        <p:txBody>
          <a:bodyPr wrap="none" lIns="0" tIns="0" rIns="0" bIns="0" rtlCol="0" anchor="t"/>
          <a:lstStyle/>
          <a:p>
            <a:pPr algn="l" indent="0" marL="0">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Cơ chế hoạt động</a:t>
            </a:r>
            <a:endParaRPr lang="en-US" sz="15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84379" y="2779663"/>
            <a:ext cx="240996" cy="241002"/>
          </a:xfrm>
          <a:prstGeom prst="rect">
            <a:avLst/>
          </a:prstGeom>
        </p:spPr>
      </p:pic>
      <p:sp>
        <p:nvSpPr>
          <p:cNvPr id="10" name="Text 6"/>
          <p:cNvSpPr/>
          <p:nvPr/>
        </p:nvSpPr>
        <p:spPr>
          <a:xfrm>
            <a:off x="7946231" y="2774752"/>
            <a:ext cx="2008236"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Cập nhật có kiểm soát</a:t>
            </a:r>
            <a:endParaRPr lang="en-US" sz="1550" dirty="0"/>
          </a:p>
        </p:txBody>
      </p:sp>
      <p:sp>
        <p:nvSpPr>
          <p:cNvPr id="11" name="Text 7"/>
          <p:cNvSpPr/>
          <p:nvPr/>
        </p:nvSpPr>
        <p:spPr>
          <a:xfrm>
            <a:off x="7946231" y="3162300"/>
            <a:ext cx="3590141" cy="7258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Các module không trực tiếp sửa đổi </a:t>
            </a:r>
            <a:pPr algn="l" indent="0" marL="0">
              <a:lnSpc>
                <a:spcPct val="123000"/>
              </a:lnSpc>
              <a:buNone/>
            </a:pPr>
            <a:r>
              <a:rPr lang="en-US" sz="1250" dirty="0">
                <a:solidFill>
                  <a:srgbClr val="4C4C4D"/>
                </a:solidFill>
                <a:highlight>
                  <a:srgbClr val="F2F2F2"/>
                </a:highlight>
                <a:latin typeface="Consolas" pitchFamily="34" charset="0"/>
                <a:ea typeface="Consolas" pitchFamily="34" charset="-122"/>
                <a:cs typeface="Consolas" pitchFamily="34" charset="-120"/>
              </a:rPr>
              <a:t>appState</a:t>
            </a:r>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 mà thông qua các hàm Service được định nghĩa rõ ràng.</a:t>
            </a:r>
            <a:endParaRPr lang="en-US" sz="12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4379" y="4166146"/>
            <a:ext cx="240996" cy="241002"/>
          </a:xfrm>
          <a:prstGeom prst="rect">
            <a:avLst/>
          </a:prstGeom>
        </p:spPr>
      </p:pic>
      <p:sp>
        <p:nvSpPr>
          <p:cNvPr id="13" name="Text 8"/>
          <p:cNvSpPr/>
          <p:nvPr/>
        </p:nvSpPr>
        <p:spPr>
          <a:xfrm>
            <a:off x="7946231" y="4161234"/>
            <a:ext cx="2008236"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Kích hoạt Render</a:t>
            </a:r>
            <a:endParaRPr lang="en-US" sz="1550" dirty="0"/>
          </a:p>
        </p:txBody>
      </p:sp>
      <p:sp>
        <p:nvSpPr>
          <p:cNvPr id="14" name="Text 9"/>
          <p:cNvSpPr/>
          <p:nvPr/>
        </p:nvSpPr>
        <p:spPr>
          <a:xfrm>
            <a:off x="7946231" y="4548783"/>
            <a:ext cx="3590141" cy="4881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Mỗi khi </a:t>
            </a:r>
            <a:pPr algn="l" indent="0" marL="0">
              <a:lnSpc>
                <a:spcPct val="123000"/>
              </a:lnSpc>
              <a:buNone/>
            </a:pPr>
            <a:r>
              <a:rPr lang="en-US" sz="1250" dirty="0">
                <a:solidFill>
                  <a:srgbClr val="4C4C4D"/>
                </a:solidFill>
                <a:highlight>
                  <a:srgbClr val="F2F2F2"/>
                </a:highlight>
                <a:latin typeface="Consolas" pitchFamily="34" charset="0"/>
                <a:ea typeface="Consolas" pitchFamily="34" charset="-122"/>
                <a:cs typeface="Consolas" pitchFamily="34" charset="-120"/>
              </a:rPr>
              <a:t>appState</a:t>
            </a:r>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 thay đổi, một cơ chế được kích hoạt để gọi các hàm render UI liên quan.</a:t>
            </a:r>
            <a:endParaRPr lang="en-US" sz="125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84379" y="5314900"/>
            <a:ext cx="240996" cy="241002"/>
          </a:xfrm>
          <a:prstGeom prst="rect">
            <a:avLst/>
          </a:prstGeom>
        </p:spPr>
      </p:pic>
      <p:sp>
        <p:nvSpPr>
          <p:cNvPr id="16" name="Text 10"/>
          <p:cNvSpPr/>
          <p:nvPr/>
        </p:nvSpPr>
        <p:spPr>
          <a:xfrm>
            <a:off x="7946231" y="5309989"/>
            <a:ext cx="2008236"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Đồng bộ tức thì</a:t>
            </a:r>
            <a:endParaRPr lang="en-US" sz="1550" dirty="0"/>
          </a:p>
        </p:txBody>
      </p:sp>
      <p:sp>
        <p:nvSpPr>
          <p:cNvPr id="17" name="Text 11"/>
          <p:cNvSpPr/>
          <p:nvPr/>
        </p:nvSpPr>
        <p:spPr>
          <a:xfrm>
            <a:off x="7946231" y="5697538"/>
            <a:ext cx="3590141"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Giao diện người dùng tự động phản ánh trạng thái mới mà không cần tải lại trang.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574" y="625673"/>
            <a:ext cx="630817" cy="299045"/>
          </a:xfrm>
          <a:prstGeom prst="roundRect">
            <a:avLst>
              <a:gd name="adj" fmla="val 6447"/>
            </a:avLst>
          </a:prstGeom>
          <a:noFill/>
          <a:ln w="6350">
            <a:solidFill>
              <a:srgbClr val="2150FE"/>
            </a:solidFill>
            <a:prstDash val="solid"/>
          </a:ln>
        </p:spPr>
      </p:sp>
      <p:sp>
        <p:nvSpPr>
          <p:cNvPr id="3" name="Text 1"/>
          <p:cNvSpPr/>
          <p:nvPr/>
        </p:nvSpPr>
        <p:spPr>
          <a:xfrm>
            <a:off x="764263" y="680145"/>
            <a:ext cx="1035024" cy="190103"/>
          </a:xfrm>
          <a:prstGeom prst="rect">
            <a:avLst/>
          </a:prstGeom>
          <a:noFill/>
          <a:ln/>
        </p:spPr>
        <p:txBody>
          <a:bodyPr wrap="none" lIns="0" tIns="0" rIns="0" bIns="0" rtlCol="0" anchor="t"/>
          <a:lstStyle/>
          <a:p>
            <a:pPr algn="l" indent="0" marL="0">
              <a:lnSpc>
                <a:spcPct val="123000"/>
              </a:lnSpc>
              <a:buNone/>
            </a:pPr>
            <a:r>
              <a:rPr lang="en-US" sz="1000" dirty="0">
                <a:solidFill>
                  <a:srgbClr val="2150FE"/>
                </a:solidFill>
                <a:latin typeface="Heebo" pitchFamily="34" charset="0"/>
                <a:ea typeface="Heebo" pitchFamily="34" charset="-122"/>
                <a:cs typeface="Heebo" pitchFamily="34" charset="-120"/>
              </a:rPr>
              <a:t>ĐẶT VÉ</a:t>
            </a:r>
            <a:endParaRPr lang="en-US" sz="1000" dirty="0"/>
          </a:p>
        </p:txBody>
      </p:sp>
      <p:sp>
        <p:nvSpPr>
          <p:cNvPr id="4" name="Text 2"/>
          <p:cNvSpPr/>
          <p:nvPr/>
        </p:nvSpPr>
        <p:spPr>
          <a:xfrm>
            <a:off x="661574" y="979289"/>
            <a:ext cx="8851976" cy="502047"/>
          </a:xfrm>
          <a:prstGeom prst="rect">
            <a:avLst/>
          </a:prstGeom>
          <a:noFill/>
          <a:ln/>
        </p:spPr>
        <p:txBody>
          <a:bodyPr wrap="none" lIns="0" tIns="0" rIns="0" bIns="0" rtlCol="0" anchor="t"/>
          <a:lstStyle/>
          <a:p>
            <a:pPr algn="l" indent="0" marL="0">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Luồng Đặt Vé: Từ Chọn Tour Đến Lưu Trữ Dữ Liệu</a:t>
            </a:r>
            <a:endParaRPr lang="en-US" sz="3150" dirty="0"/>
          </a:p>
        </p:txBody>
      </p:sp>
      <p:sp>
        <p:nvSpPr>
          <p:cNvPr id="5" name="Text 3"/>
          <p:cNvSpPr/>
          <p:nvPr/>
        </p:nvSpPr>
        <p:spPr>
          <a:xfrm>
            <a:off x="661574" y="1686123"/>
            <a:ext cx="10868547"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Quy trình đặt vé được thiết kế để đơn giản và hiệu quả, dẫn dắt người dùng qua từng bước từ lựa chọn tour đến khi hoàn tất lưu trữ thông tin vé vào hệ thống.</a:t>
            </a:r>
            <a:endParaRPr lang="en-US" sz="1250" dirty="0"/>
          </a:p>
        </p:txBody>
      </p:sp>
      <p:pic>
        <p:nvPicPr>
          <p:cNvPr id="6" name="Image 0" descr="preencoded.png">    </p:cNvPr>
          <p:cNvPicPr>
            <a:picLocks noChangeAspect="1"/>
          </p:cNvPicPr>
          <p:nvPr/>
        </p:nvPicPr>
        <p:blipFill>
          <a:blip r:embed="rId1"/>
          <a:stretch>
            <a:fillRect/>
          </a:stretch>
        </p:blipFill>
        <p:spPr>
          <a:xfrm>
            <a:off x="2503723" y="2315170"/>
            <a:ext cx="7184151" cy="3288010"/>
          </a:xfrm>
          <a:prstGeom prst="rect">
            <a:avLst/>
          </a:prstGeom>
        </p:spPr>
      </p:pic>
      <p:sp>
        <p:nvSpPr>
          <p:cNvPr id="7" name="Text 4"/>
          <p:cNvSpPr/>
          <p:nvPr/>
        </p:nvSpPr>
        <p:spPr>
          <a:xfrm>
            <a:off x="8004647" y="4692467"/>
            <a:ext cx="1348762" cy="519656"/>
          </a:xfrm>
          <a:prstGeom prst="rect">
            <a:avLst/>
          </a:prstGeom>
          <a:noFill/>
          <a:ln/>
        </p:spPr>
        <p:txBody>
          <a:bodyPr wrap="square" lIns="0" tIns="0" rIns="0" bIns="0" rtlCol="0" anchor="t">
            <a:normAutofit/>
          </a:bodyPr>
          <a:lstStyle/>
          <a:p>
            <a:pPr algn="ctr" indent="0" marL="0">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Save to localStorage</a:t>
            </a:r>
            <a:endParaRPr lang="en-US" sz="1600" dirty="0"/>
          </a:p>
        </p:txBody>
      </p:sp>
      <p:sp>
        <p:nvSpPr>
          <p:cNvPr id="8" name="Text 5"/>
          <p:cNvSpPr/>
          <p:nvPr/>
        </p:nvSpPr>
        <p:spPr>
          <a:xfrm>
            <a:off x="6304838" y="4692467"/>
            <a:ext cx="1348762" cy="519656"/>
          </a:xfrm>
          <a:prstGeom prst="rect">
            <a:avLst/>
          </a:prstGeom>
          <a:noFill/>
          <a:ln/>
        </p:spPr>
        <p:txBody>
          <a:bodyPr wrap="square" lIns="0" tIns="0" rIns="0" bIns="0" rtlCol="0" anchor="t">
            <a:normAutofit/>
          </a:bodyPr>
          <a:lstStyle/>
          <a:p>
            <a:pPr algn="ctr" indent="0" marL="0">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Generate Ticket</a:t>
            </a:r>
            <a:endParaRPr lang="en-US" sz="1600" dirty="0"/>
          </a:p>
        </p:txBody>
      </p:sp>
      <p:sp>
        <p:nvSpPr>
          <p:cNvPr id="9" name="Text 6"/>
          <p:cNvSpPr/>
          <p:nvPr/>
        </p:nvSpPr>
        <p:spPr>
          <a:xfrm>
            <a:off x="4614266" y="4822382"/>
            <a:ext cx="1348761" cy="259828"/>
          </a:xfrm>
          <a:prstGeom prst="rect">
            <a:avLst/>
          </a:prstGeom>
          <a:noFill/>
          <a:ln/>
        </p:spPr>
        <p:txBody>
          <a:bodyPr wrap="none" lIns="0" tIns="0" rIns="0" bIns="0" rtlCol="0" anchor="t"/>
          <a:lstStyle/>
          <a:p>
            <a:pPr algn="ctr" indent="0" marL="0">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Enter Details</a:t>
            </a:r>
            <a:endParaRPr lang="en-US" sz="1600" dirty="0"/>
          </a:p>
        </p:txBody>
      </p:sp>
      <p:sp>
        <p:nvSpPr>
          <p:cNvPr id="10" name="Text 7"/>
          <p:cNvSpPr/>
          <p:nvPr/>
        </p:nvSpPr>
        <p:spPr>
          <a:xfrm>
            <a:off x="2886743" y="4822382"/>
            <a:ext cx="1348762" cy="259828"/>
          </a:xfrm>
          <a:prstGeom prst="rect">
            <a:avLst/>
          </a:prstGeom>
          <a:noFill/>
          <a:ln/>
        </p:spPr>
        <p:txBody>
          <a:bodyPr wrap="none" lIns="0" tIns="0" rIns="0" bIns="0" rtlCol="0" anchor="t"/>
          <a:lstStyle/>
          <a:p>
            <a:pPr algn="ctr" indent="0" marL="0">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Choose Tour</a:t>
            </a:r>
            <a:endParaRPr lang="en-US" sz="1600" dirty="0"/>
          </a:p>
        </p:txBody>
      </p:sp>
      <p:sp>
        <p:nvSpPr>
          <p:cNvPr id="11" name="Text 8"/>
          <p:cNvSpPr/>
          <p:nvPr/>
        </p:nvSpPr>
        <p:spPr>
          <a:xfrm>
            <a:off x="661574" y="5756771"/>
            <a:ext cx="10868547"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Mỗi bước trong luồng đặt vé đều được tối ưu hóa để đảm bảo dữ liệu chính xác và trải nghiệm người dùng liền mạch, từ việc chọn tour ưng ý, nhập thông tin đặt chỗ, tạo vé và cuối cùng là lưu trữ vào bộ nhớ cục bộ.</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574" y="942777"/>
            <a:ext cx="1143765" cy="321568"/>
          </a:xfrm>
          <a:prstGeom prst="roundRect">
            <a:avLst>
              <a:gd name="adj" fmla="val 6348"/>
            </a:avLst>
          </a:prstGeom>
          <a:noFill/>
          <a:ln w="6350">
            <a:solidFill>
              <a:srgbClr val="2150FE"/>
            </a:solidFill>
            <a:prstDash val="solid"/>
          </a:ln>
        </p:spPr>
      </p:sp>
      <p:sp>
        <p:nvSpPr>
          <p:cNvPr id="3" name="Text 1"/>
          <p:cNvSpPr/>
          <p:nvPr/>
        </p:nvSpPr>
        <p:spPr>
          <a:xfrm>
            <a:off x="769918" y="1000125"/>
            <a:ext cx="1536662" cy="206871"/>
          </a:xfrm>
          <a:prstGeom prst="rect">
            <a:avLst/>
          </a:prstGeom>
          <a:noFill/>
          <a:ln/>
        </p:spPr>
        <p:txBody>
          <a:bodyPr wrap="none" lIns="0" tIns="0" rIns="0" bIns="0" rtlCol="0" anchor="t"/>
          <a:lstStyle/>
          <a:p>
            <a:pPr algn="l" indent="0" marL="0">
              <a:lnSpc>
                <a:spcPct val="127000"/>
              </a:lnSpc>
              <a:buNone/>
            </a:pPr>
            <a:r>
              <a:rPr lang="en-US" sz="1050" dirty="0">
                <a:solidFill>
                  <a:srgbClr val="2150FE"/>
                </a:solidFill>
                <a:latin typeface="Heebo" pitchFamily="34" charset="0"/>
                <a:ea typeface="Heebo" pitchFamily="34" charset="-122"/>
                <a:cs typeface="Heebo" pitchFamily="34" charset="-120"/>
              </a:rPr>
              <a:t>LUỒNG ĐẶT VÉ</a:t>
            </a:r>
            <a:endParaRPr lang="en-US" sz="1050" dirty="0"/>
          </a:p>
        </p:txBody>
      </p:sp>
      <p:sp>
        <p:nvSpPr>
          <p:cNvPr id="4" name="Text 2"/>
          <p:cNvSpPr/>
          <p:nvPr/>
        </p:nvSpPr>
        <p:spPr>
          <a:xfrm>
            <a:off x="661574" y="1325563"/>
            <a:ext cx="4862490" cy="531614"/>
          </a:xfrm>
          <a:prstGeom prst="rect">
            <a:avLst/>
          </a:prstGeom>
          <a:noFill/>
          <a:ln/>
        </p:spPr>
        <p:txBody>
          <a:bodyPr wrap="none" lIns="0" tIns="0" rIns="0" bIns="0" rtlCol="0" anchor="t"/>
          <a:lstStyle/>
          <a:p>
            <a:pPr algn="l" indent="0" marL="0">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Validation &amp; Data Flow</a:t>
            </a:r>
            <a:endParaRPr lang="en-US" sz="3300" dirty="0"/>
          </a:p>
        </p:txBody>
      </p:sp>
      <p:sp>
        <p:nvSpPr>
          <p:cNvPr id="5" name="Text 3"/>
          <p:cNvSpPr/>
          <p:nvPr/>
        </p:nvSpPr>
        <p:spPr>
          <a:xfrm>
            <a:off x="661574" y="2086769"/>
            <a:ext cx="11478132"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Quy trình đặt vé được thiết kế rõ ràng, đảm bảo trải nghiệm liền mạch cho người dùng và quản lý dữ liệu hiệu quả ở phía Frontend.</a:t>
            </a:r>
            <a:endParaRPr lang="en-US" sz="1300" dirty="0"/>
          </a:p>
        </p:txBody>
      </p:sp>
      <p:sp>
        <p:nvSpPr>
          <p:cNvPr id="6" name="Text 4"/>
          <p:cNvSpPr/>
          <p:nvPr/>
        </p:nvSpPr>
        <p:spPr>
          <a:xfrm>
            <a:off x="661574" y="2670671"/>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Validation Rules (Bảng)</a:t>
            </a:r>
            <a:endParaRPr lang="en-US" sz="1650" dirty="0"/>
          </a:p>
        </p:txBody>
      </p:sp>
      <p:sp>
        <p:nvSpPr>
          <p:cNvPr id="7" name="Shape 5"/>
          <p:cNvSpPr/>
          <p:nvPr/>
        </p:nvSpPr>
        <p:spPr>
          <a:xfrm>
            <a:off x="661574" y="3108623"/>
            <a:ext cx="5452430" cy="2634258"/>
          </a:xfrm>
          <a:prstGeom prst="roundRect">
            <a:avLst>
              <a:gd name="adj" fmla="val 969"/>
            </a:avLst>
          </a:prstGeom>
          <a:noFill/>
          <a:ln w="6350">
            <a:solidFill>
              <a:srgbClr val="000000">
                <a:alpha val="8000"/>
              </a:srgbClr>
            </a:solidFill>
            <a:prstDash val="solid"/>
          </a:ln>
        </p:spPr>
      </p:sp>
      <p:sp>
        <p:nvSpPr>
          <p:cNvPr id="8" name="Text 6"/>
          <p:cNvSpPr/>
          <p:nvPr/>
        </p:nvSpPr>
        <p:spPr>
          <a:xfrm>
            <a:off x="838179" y="3213100"/>
            <a:ext cx="1789365" cy="258564"/>
          </a:xfrm>
          <a:prstGeom prst="rect">
            <a:avLst/>
          </a:prstGeom>
          <a:noFill/>
          <a:ln/>
        </p:spPr>
        <p:txBody>
          <a:bodyPr wrap="none" lIns="0" tIns="0" rIns="0" bIns="0" rtlCol="0" anchor="t"/>
          <a:lstStyle/>
          <a:p>
            <a:pPr algn="l" indent="0" marL="0">
              <a:lnSpc>
                <a:spcPct val="127000"/>
              </a:lnSpc>
              <a:buNone/>
            </a:pPr>
            <a:r>
              <a:rPr lang="en-US" sz="1300" b="1" dirty="0">
                <a:solidFill>
                  <a:srgbClr val="4C4C4D"/>
                </a:solidFill>
                <a:latin typeface="Heebo" pitchFamily="34" charset="0"/>
                <a:ea typeface="Heebo" pitchFamily="34" charset="-122"/>
                <a:cs typeface="Heebo" pitchFamily="34" charset="-120"/>
              </a:rPr>
              <a:t>Field</a:t>
            </a:r>
            <a:endParaRPr lang="en-US" sz="1300" dirty="0"/>
          </a:p>
        </p:txBody>
      </p:sp>
      <p:sp>
        <p:nvSpPr>
          <p:cNvPr id="9" name="Text 7"/>
          <p:cNvSpPr/>
          <p:nvPr/>
        </p:nvSpPr>
        <p:spPr>
          <a:xfrm>
            <a:off x="2364423" y="3213100"/>
            <a:ext cx="2438934" cy="258564"/>
          </a:xfrm>
          <a:prstGeom prst="rect">
            <a:avLst/>
          </a:prstGeom>
          <a:noFill/>
          <a:ln/>
        </p:spPr>
        <p:txBody>
          <a:bodyPr wrap="none" lIns="0" tIns="0" rIns="0" bIns="0" rtlCol="0" anchor="t"/>
          <a:lstStyle/>
          <a:p>
            <a:pPr algn="l" indent="0" marL="0">
              <a:lnSpc>
                <a:spcPct val="127000"/>
              </a:lnSpc>
              <a:buNone/>
            </a:pPr>
            <a:r>
              <a:rPr lang="en-US" sz="1300" b="1" dirty="0">
                <a:solidFill>
                  <a:srgbClr val="4C4C4D"/>
                </a:solidFill>
                <a:latin typeface="Heebo" pitchFamily="34" charset="0"/>
                <a:ea typeface="Heebo" pitchFamily="34" charset="-122"/>
                <a:cs typeface="Heebo" pitchFamily="34" charset="-120"/>
              </a:rPr>
              <a:t>Rule</a:t>
            </a:r>
            <a:endParaRPr lang="en-US" sz="1300" dirty="0"/>
          </a:p>
        </p:txBody>
      </p:sp>
      <p:sp>
        <p:nvSpPr>
          <p:cNvPr id="10" name="Text 8"/>
          <p:cNvSpPr/>
          <p:nvPr/>
        </p:nvSpPr>
        <p:spPr>
          <a:xfrm>
            <a:off x="4540236" y="3213100"/>
            <a:ext cx="2006947" cy="258564"/>
          </a:xfrm>
          <a:prstGeom prst="rect">
            <a:avLst/>
          </a:prstGeom>
          <a:noFill/>
          <a:ln/>
        </p:spPr>
        <p:txBody>
          <a:bodyPr wrap="none" lIns="0" tIns="0" rIns="0" bIns="0" rtlCol="0" anchor="t"/>
          <a:lstStyle/>
          <a:p>
            <a:pPr algn="l" indent="0" marL="0">
              <a:lnSpc>
                <a:spcPct val="127000"/>
              </a:lnSpc>
              <a:buNone/>
            </a:pPr>
            <a:r>
              <a:rPr lang="en-US" sz="1300" b="1" dirty="0">
                <a:solidFill>
                  <a:srgbClr val="4C4C4D"/>
                </a:solidFill>
                <a:latin typeface="Heebo" pitchFamily="34" charset="0"/>
                <a:ea typeface="Heebo" pitchFamily="34" charset="-122"/>
                <a:cs typeface="Heebo" pitchFamily="34" charset="-120"/>
              </a:rPr>
              <a:t>Method</a:t>
            </a:r>
            <a:endParaRPr lang="en-US" sz="1300" dirty="0"/>
          </a:p>
        </p:txBody>
      </p:sp>
      <p:sp>
        <p:nvSpPr>
          <p:cNvPr id="11" name="Text 9"/>
          <p:cNvSpPr/>
          <p:nvPr/>
        </p:nvSpPr>
        <p:spPr>
          <a:xfrm>
            <a:off x="838179" y="3674269"/>
            <a:ext cx="1789365"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Email</a:t>
            </a:r>
            <a:endParaRPr lang="en-US" sz="1300" dirty="0"/>
          </a:p>
        </p:txBody>
      </p:sp>
      <p:sp>
        <p:nvSpPr>
          <p:cNvPr id="12" name="Text 10"/>
          <p:cNvSpPr/>
          <p:nvPr/>
        </p:nvSpPr>
        <p:spPr>
          <a:xfrm>
            <a:off x="2364423" y="3674269"/>
            <a:ext cx="2438934"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Định dạng hợp lệ</a:t>
            </a:r>
            <a:endParaRPr lang="en-US" sz="1300" dirty="0"/>
          </a:p>
        </p:txBody>
      </p:sp>
      <p:sp>
        <p:nvSpPr>
          <p:cNvPr id="13" name="Text 11"/>
          <p:cNvSpPr/>
          <p:nvPr/>
        </p:nvSpPr>
        <p:spPr>
          <a:xfrm>
            <a:off x="4540236" y="3674269"/>
            <a:ext cx="1397362" cy="5425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4C4C4D"/>
                </a:solidFill>
                <a:highlight>
                  <a:srgbClr val="F2F2F2"/>
                </a:highlight>
                <a:latin typeface="Consolas" pitchFamily="34" charset="0"/>
                <a:ea typeface="Consolas" pitchFamily="34" charset="-122"/>
                <a:cs typeface="Consolas" pitchFamily="34" charset="-120"/>
              </a:rPr>
              <a:t>/^[^\s@]+@[^\s@]+\.[^\s@]+$/</a:t>
            </a:r>
            <a:endParaRPr lang="en-US" sz="1300" dirty="0"/>
          </a:p>
        </p:txBody>
      </p:sp>
      <p:sp>
        <p:nvSpPr>
          <p:cNvPr id="14" name="Text 12"/>
          <p:cNvSpPr/>
          <p:nvPr/>
        </p:nvSpPr>
        <p:spPr>
          <a:xfrm>
            <a:off x="838179" y="4419402"/>
            <a:ext cx="1789365"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Phone</a:t>
            </a:r>
            <a:endParaRPr lang="en-US" sz="1300" dirty="0"/>
          </a:p>
        </p:txBody>
      </p:sp>
      <p:sp>
        <p:nvSpPr>
          <p:cNvPr id="15" name="Text 13"/>
          <p:cNvSpPr/>
          <p:nvPr/>
        </p:nvSpPr>
        <p:spPr>
          <a:xfrm>
            <a:off x="2364423" y="4419402"/>
            <a:ext cx="2438934"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Chỉ số, 10-11 ký tự</a:t>
            </a:r>
            <a:endParaRPr lang="en-US" sz="1300" dirty="0"/>
          </a:p>
        </p:txBody>
      </p:sp>
      <p:sp>
        <p:nvSpPr>
          <p:cNvPr id="16" name="Text 14"/>
          <p:cNvSpPr/>
          <p:nvPr/>
        </p:nvSpPr>
        <p:spPr>
          <a:xfrm>
            <a:off x="4540236" y="4419402"/>
            <a:ext cx="2006947" cy="2712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highlight>
                  <a:srgbClr val="F2F2F2"/>
                </a:highlight>
                <a:latin typeface="Consolas" pitchFamily="34" charset="0"/>
                <a:ea typeface="Consolas" pitchFamily="34" charset="-122"/>
                <a:cs typeface="Consolas" pitchFamily="34" charset="-120"/>
              </a:rPr>
              <a:t>/^\d{10,11}$/</a:t>
            </a:r>
            <a:endParaRPr lang="en-US" sz="1300" dirty="0"/>
          </a:p>
        </p:txBody>
      </p:sp>
      <p:sp>
        <p:nvSpPr>
          <p:cNvPr id="17" name="Text 15"/>
          <p:cNvSpPr/>
          <p:nvPr/>
        </p:nvSpPr>
        <p:spPr>
          <a:xfrm>
            <a:off x="838179" y="4893270"/>
            <a:ext cx="1789365"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Quantity</a:t>
            </a:r>
            <a:endParaRPr lang="en-US" sz="1300" dirty="0"/>
          </a:p>
        </p:txBody>
      </p:sp>
      <p:sp>
        <p:nvSpPr>
          <p:cNvPr id="18" name="Text 16"/>
          <p:cNvSpPr/>
          <p:nvPr/>
        </p:nvSpPr>
        <p:spPr>
          <a:xfrm>
            <a:off x="2364423" y="4893270"/>
            <a:ext cx="2438934"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Số nguyên &gt; 0</a:t>
            </a:r>
            <a:endParaRPr lang="en-US" sz="1300" dirty="0"/>
          </a:p>
        </p:txBody>
      </p:sp>
      <p:sp>
        <p:nvSpPr>
          <p:cNvPr id="19" name="Text 17"/>
          <p:cNvSpPr/>
          <p:nvPr/>
        </p:nvSpPr>
        <p:spPr>
          <a:xfrm>
            <a:off x="4540236" y="4893270"/>
            <a:ext cx="2006947" cy="2712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highlight>
                  <a:srgbClr val="F2F2F2"/>
                </a:highlight>
                <a:latin typeface="Consolas" pitchFamily="34" charset="0"/>
                <a:ea typeface="Consolas" pitchFamily="34" charset="-122"/>
                <a:cs typeface="Consolas" pitchFamily="34" charset="-120"/>
              </a:rPr>
              <a:t>parseInt()</a:t>
            </a:r>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 + &gt; 0</a:t>
            </a:r>
            <a:endParaRPr lang="en-US" sz="1300" dirty="0"/>
          </a:p>
        </p:txBody>
      </p:sp>
      <p:sp>
        <p:nvSpPr>
          <p:cNvPr id="20" name="Text 18"/>
          <p:cNvSpPr/>
          <p:nvPr/>
        </p:nvSpPr>
        <p:spPr>
          <a:xfrm>
            <a:off x="838179" y="5367139"/>
            <a:ext cx="1789365"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All Fields</a:t>
            </a:r>
            <a:endParaRPr lang="en-US" sz="1300" dirty="0"/>
          </a:p>
        </p:txBody>
      </p:sp>
      <p:sp>
        <p:nvSpPr>
          <p:cNvPr id="21" name="Text 19"/>
          <p:cNvSpPr/>
          <p:nvPr/>
        </p:nvSpPr>
        <p:spPr>
          <a:xfrm>
            <a:off x="2364423" y="5367139"/>
            <a:ext cx="2438934" cy="2585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Không rỗng</a:t>
            </a:r>
            <a:endParaRPr lang="en-US" sz="1300" dirty="0"/>
          </a:p>
        </p:txBody>
      </p:sp>
      <p:sp>
        <p:nvSpPr>
          <p:cNvPr id="22" name="Text 20"/>
          <p:cNvSpPr/>
          <p:nvPr/>
        </p:nvSpPr>
        <p:spPr>
          <a:xfrm>
            <a:off x="4540236" y="5367139"/>
            <a:ext cx="2006947" cy="271264"/>
          </a:xfrm>
          <a:prstGeom prst="rect">
            <a:avLst/>
          </a:prstGeom>
          <a:noFill/>
          <a:ln/>
        </p:spPr>
        <p:txBody>
          <a:bodyPr wrap="none" lIns="0" tIns="0" rIns="0" bIns="0" rtlCol="0" anchor="t"/>
          <a:lstStyle/>
          <a:p>
            <a:pPr algn="l" indent="0" marL="0">
              <a:lnSpc>
                <a:spcPct val="127000"/>
              </a:lnSpc>
              <a:buNone/>
            </a:pPr>
            <a:r>
              <a:rPr lang="en-US" sz="1300" dirty="0">
                <a:solidFill>
                  <a:srgbClr val="4C4C4D"/>
                </a:solidFill>
                <a:highlight>
                  <a:srgbClr val="F2F2F2"/>
                </a:highlight>
                <a:latin typeface="Consolas" pitchFamily="34" charset="0"/>
                <a:ea typeface="Consolas" pitchFamily="34" charset="-122"/>
                <a:cs typeface="Consolas" pitchFamily="34" charset="-120"/>
              </a:rPr>
              <a:t>trim().length &gt; 0</a:t>
            </a:r>
            <a:endParaRPr lang="en-US" sz="1300" dirty="0"/>
          </a:p>
        </p:txBody>
      </p:sp>
      <p:sp>
        <p:nvSpPr>
          <p:cNvPr id="23" name="Text 21"/>
          <p:cNvSpPr/>
          <p:nvPr/>
        </p:nvSpPr>
        <p:spPr>
          <a:xfrm>
            <a:off x="6535276" y="2670671"/>
            <a:ext cx="2735988" cy="265708"/>
          </a:xfrm>
          <a:prstGeom prst="rect">
            <a:avLst/>
          </a:prstGeom>
          <a:noFill/>
          <a:ln/>
        </p:spPr>
        <p:txBody>
          <a:bodyPr wrap="none" lIns="0" tIns="0" rIns="0" bIns="0" rtlCol="0" anchor="t"/>
          <a:lstStyle/>
          <a:p>
            <a:pPr algn="l" indent="0" marL="0">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Data Flow (Diagram)</a:t>
            </a:r>
            <a:endParaRPr lang="en-US" sz="1650" dirty="0"/>
          </a:p>
        </p:txBody>
      </p:sp>
      <p:pic>
        <p:nvPicPr>
          <p:cNvPr id="24" name="Image 0" descr="preencoded.png">    </p:cNvPr>
          <p:cNvPicPr>
            <a:picLocks noChangeAspect="1"/>
          </p:cNvPicPr>
          <p:nvPr/>
        </p:nvPicPr>
        <p:blipFill>
          <a:blip r:embed="rId1"/>
          <a:stretch>
            <a:fillRect/>
          </a:stretch>
        </p:blipFill>
        <p:spPr>
          <a:xfrm>
            <a:off x="6785301" y="3108623"/>
            <a:ext cx="4500946" cy="1940917"/>
          </a:xfrm>
          <a:prstGeom prst="rect">
            <a:avLst/>
          </a:prstGeom>
        </p:spPr>
      </p:pic>
      <p:sp>
        <p:nvSpPr>
          <p:cNvPr id="25" name="Text 22"/>
          <p:cNvSpPr/>
          <p:nvPr/>
        </p:nvSpPr>
        <p:spPr>
          <a:xfrm>
            <a:off x="7088212" y="4681469"/>
            <a:ext cx="1021090" cy="127639"/>
          </a:xfrm>
          <a:prstGeom prst="rect">
            <a:avLst/>
          </a:prstGeom>
          <a:noFill/>
          <a:ln/>
        </p:spPr>
        <p:txBody>
          <a:bodyPr wrap="none" lIns="0" tIns="0" rIns="0" bIns="0" rtlCol="0" anchor="t"/>
          <a:lstStyle/>
          <a:p>
            <a:pPr algn="l" indent="0" marL="0">
              <a:lnSpc>
                <a:spcPct val="104000"/>
              </a:lnSpc>
              <a:buNone/>
            </a:pPr>
            <a:r>
              <a:rPr lang="en-US" sz="800" dirty="0">
                <a:solidFill>
                  <a:srgbClr val="FFFFFF"/>
                </a:solidFill>
                <a:latin typeface="Crimson Pro SemiBold" pitchFamily="34" charset="0"/>
                <a:ea typeface="Crimson Pro SemiBold" pitchFamily="34" charset="-122"/>
                <a:cs typeface="Crimson Pro SemiBold" pitchFamily="34" charset="-120"/>
              </a:rPr>
              <a:t>Place</a:t>
            </a:r>
            <a:endParaRPr lang="en-US" sz="800" dirty="0"/>
          </a:p>
        </p:txBody>
      </p:sp>
      <p:sp>
        <p:nvSpPr>
          <p:cNvPr id="26" name="Text 23"/>
          <p:cNvSpPr/>
          <p:nvPr/>
        </p:nvSpPr>
        <p:spPr>
          <a:xfrm>
            <a:off x="7088212" y="4232178"/>
            <a:ext cx="1021090" cy="127639"/>
          </a:xfrm>
          <a:prstGeom prst="rect">
            <a:avLst/>
          </a:prstGeom>
          <a:noFill/>
          <a:ln/>
        </p:spPr>
        <p:txBody>
          <a:bodyPr wrap="none" lIns="0" tIns="0" rIns="0" bIns="0" rtlCol="0" anchor="t"/>
          <a:lstStyle/>
          <a:p>
            <a:pPr algn="l" indent="0" marL="0">
              <a:lnSpc>
                <a:spcPct val="104000"/>
              </a:lnSpc>
              <a:buNone/>
            </a:pPr>
            <a:r>
              <a:rPr lang="en-US" sz="800" dirty="0">
                <a:solidFill>
                  <a:srgbClr val="FFFFFF"/>
                </a:solidFill>
                <a:latin typeface="Crimson Pro SemiBold" pitchFamily="34" charset="0"/>
                <a:ea typeface="Crimson Pro SemiBold" pitchFamily="34" charset="-122"/>
                <a:cs typeface="Crimson Pro SemiBold" pitchFamily="34" charset="-120"/>
              </a:rPr>
              <a:t>Tour</a:t>
            </a:r>
            <a:endParaRPr lang="en-US" sz="800" dirty="0"/>
          </a:p>
        </p:txBody>
      </p:sp>
      <p:sp>
        <p:nvSpPr>
          <p:cNvPr id="27" name="Text 24"/>
          <p:cNvSpPr/>
          <p:nvPr/>
        </p:nvSpPr>
        <p:spPr>
          <a:xfrm>
            <a:off x="7088212" y="3787425"/>
            <a:ext cx="1021090" cy="127639"/>
          </a:xfrm>
          <a:prstGeom prst="rect">
            <a:avLst/>
          </a:prstGeom>
          <a:noFill/>
          <a:ln/>
        </p:spPr>
        <p:txBody>
          <a:bodyPr wrap="none" lIns="0" tIns="0" rIns="0" bIns="0" rtlCol="0" anchor="t"/>
          <a:lstStyle/>
          <a:p>
            <a:pPr algn="l" indent="0" marL="0">
              <a:lnSpc>
                <a:spcPct val="104000"/>
              </a:lnSpc>
              <a:buNone/>
            </a:pPr>
            <a:r>
              <a:rPr lang="en-US" sz="800" dirty="0">
                <a:solidFill>
                  <a:srgbClr val="FFFFFF"/>
                </a:solidFill>
                <a:latin typeface="Crimson Pro SemiBold" pitchFamily="34" charset="0"/>
                <a:ea typeface="Crimson Pro SemiBold" pitchFamily="34" charset="-122"/>
                <a:cs typeface="Crimson Pro SemiBold" pitchFamily="34" charset="-120"/>
              </a:rPr>
              <a:t>Ticket</a:t>
            </a:r>
            <a:endParaRPr lang="en-US" sz="800" dirty="0"/>
          </a:p>
        </p:txBody>
      </p:sp>
      <p:sp>
        <p:nvSpPr>
          <p:cNvPr id="28" name="Text 25"/>
          <p:cNvSpPr/>
          <p:nvPr/>
        </p:nvSpPr>
        <p:spPr>
          <a:xfrm>
            <a:off x="7088212" y="3338135"/>
            <a:ext cx="1021090" cy="127639"/>
          </a:xfrm>
          <a:prstGeom prst="rect">
            <a:avLst/>
          </a:prstGeom>
          <a:noFill/>
          <a:ln/>
        </p:spPr>
        <p:txBody>
          <a:bodyPr wrap="none" lIns="0" tIns="0" rIns="0" bIns="0" rtlCol="0" anchor="t"/>
          <a:lstStyle/>
          <a:p>
            <a:pPr algn="l" indent="0" marL="0">
              <a:lnSpc>
                <a:spcPct val="104000"/>
              </a:lnSpc>
              <a:buNone/>
            </a:pPr>
            <a:r>
              <a:rPr lang="en-US" sz="800" dirty="0">
                <a:solidFill>
                  <a:srgbClr val="FFFFFF"/>
                </a:solidFill>
                <a:latin typeface="Crimson Pro SemiBold" pitchFamily="34" charset="0"/>
                <a:ea typeface="Crimson Pro SemiBold" pitchFamily="34" charset="-122"/>
                <a:cs typeface="Crimson Pro SemiBold" pitchFamily="34" charset="-120"/>
              </a:rPr>
              <a:t>Customer</a:t>
            </a:r>
            <a:endParaRPr lang="en-US" sz="800" dirty="0"/>
          </a:p>
        </p:txBody>
      </p:sp>
      <p:sp>
        <p:nvSpPr>
          <p:cNvPr id="29" name="Text 26"/>
          <p:cNvSpPr/>
          <p:nvPr/>
        </p:nvSpPr>
        <p:spPr>
          <a:xfrm>
            <a:off x="6535276" y="5221784"/>
            <a:ext cx="500109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Mối quan hệ giữa các bảng dữ liệu. Mỗi Ticket liên kết đến 1 Customer, 1 Tour, và Tour liên kết đến 1 Place.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574" y="1020465"/>
            <a:ext cx="981150" cy="236041"/>
          </a:xfrm>
          <a:prstGeom prst="roundRect">
            <a:avLst>
              <a:gd name="adj" fmla="val 6727"/>
            </a:avLst>
          </a:prstGeom>
          <a:noFill/>
          <a:ln w="6350">
            <a:solidFill>
              <a:srgbClr val="2150FE"/>
            </a:solidFill>
            <a:prstDash val="solid"/>
          </a:ln>
        </p:spPr>
      </p:sp>
      <p:sp>
        <p:nvSpPr>
          <p:cNvPr id="3" name="Text 1"/>
          <p:cNvSpPr/>
          <p:nvPr/>
        </p:nvSpPr>
        <p:spPr>
          <a:xfrm>
            <a:off x="747297" y="1066502"/>
            <a:ext cx="1419289" cy="143966"/>
          </a:xfrm>
          <a:prstGeom prst="rect">
            <a:avLst/>
          </a:prstGeom>
          <a:noFill/>
          <a:ln/>
        </p:spPr>
        <p:txBody>
          <a:bodyPr wrap="none" lIns="0" tIns="0" rIns="0" bIns="0" rtlCol="0" anchor="t"/>
          <a:lstStyle/>
          <a:p>
            <a:pPr algn="l" indent="0" marL="0">
              <a:lnSpc>
                <a:spcPct val="113000"/>
              </a:lnSpc>
              <a:buNone/>
            </a:pPr>
            <a:r>
              <a:rPr lang="en-US" sz="800" dirty="0">
                <a:solidFill>
                  <a:srgbClr val="2150FE"/>
                </a:solidFill>
                <a:latin typeface="Heebo" pitchFamily="34" charset="0"/>
                <a:ea typeface="Heebo" pitchFamily="34" charset="-122"/>
                <a:cs typeface="Heebo" pitchFamily="34" charset="-120"/>
              </a:rPr>
              <a:t>BUSINESS LOGIC</a:t>
            </a:r>
            <a:endParaRPr lang="en-US" sz="800" dirty="0"/>
          </a:p>
        </p:txBody>
      </p:sp>
      <p:sp>
        <p:nvSpPr>
          <p:cNvPr id="4" name="Text 2"/>
          <p:cNvSpPr/>
          <p:nvPr/>
        </p:nvSpPr>
        <p:spPr>
          <a:xfrm>
            <a:off x="661574" y="1293515"/>
            <a:ext cx="5101700" cy="413445"/>
          </a:xfrm>
          <a:prstGeom prst="rect">
            <a:avLst/>
          </a:prstGeom>
          <a:noFill/>
          <a:ln/>
        </p:spPr>
        <p:txBody>
          <a:bodyPr wrap="none" lIns="0" tIns="0" rIns="0" bIns="0" rtlCol="0" anchor="t"/>
          <a:lstStyle/>
          <a:p>
            <a:pPr algn="l" indent="0" marL="0">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Business Logic &amp; Relational Data</a:t>
            </a:r>
            <a:endParaRPr lang="en-US" sz="2600" dirty="0"/>
          </a:p>
        </p:txBody>
      </p:sp>
      <p:sp>
        <p:nvSpPr>
          <p:cNvPr id="5" name="Text 3"/>
          <p:cNvSpPr/>
          <p:nvPr/>
        </p:nvSpPr>
        <p:spPr>
          <a:xfrm>
            <a:off x="661574" y="1938437"/>
            <a:ext cx="2263421" cy="206673"/>
          </a:xfrm>
          <a:prstGeom prst="rect">
            <a:avLst/>
          </a:prstGeom>
          <a:noFill/>
          <a:ln/>
        </p:spPr>
        <p:txBody>
          <a:bodyPr wrap="none" lIns="0" tIns="0" rIns="0" bIns="0" rtlCol="0" anchor="t"/>
          <a:lstStyle/>
          <a:p>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Hàm JavaScript Nổi Bật</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525" y="2249289"/>
            <a:ext cx="2609189" cy="1167209"/>
          </a:xfrm>
          <a:prstGeom prst="rect">
            <a:avLst/>
          </a:prstGeom>
        </p:spPr>
      </p:pic>
      <p:sp>
        <p:nvSpPr>
          <p:cNvPr id="7" name="Text 4"/>
          <p:cNvSpPr/>
          <p:nvPr/>
        </p:nvSpPr>
        <p:spPr>
          <a:xfrm>
            <a:off x="870027" y="2400598"/>
            <a:ext cx="2115291"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Array.map() + Spread Operator</a:t>
            </a:r>
            <a:endParaRPr lang="en-US" sz="1300" dirty="0"/>
          </a:p>
        </p:txBody>
      </p:sp>
      <p:sp>
        <p:nvSpPr>
          <p:cNvPr id="8" name="Text 5"/>
          <p:cNvSpPr/>
          <p:nvPr/>
        </p:nvSpPr>
        <p:spPr>
          <a:xfrm>
            <a:off x="870027" y="2699841"/>
            <a:ext cx="2230382" cy="565348"/>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Cấp phát ID động: </a:t>
            </a:r>
            <a:pPr algn="l" indent="0" marL="0">
              <a:lnSpc>
                <a:spcPct val="113000"/>
              </a:lnSpc>
              <a:buNone/>
            </a:pPr>
            <a:r>
              <a:rPr lang="en-US" sz="1000" dirty="0">
                <a:solidFill>
                  <a:srgbClr val="4C4C4D"/>
                </a:solidFill>
                <a:highlight>
                  <a:srgbClr val="F2F2F2"/>
                </a:highlight>
                <a:latin typeface="Consolas" pitchFamily="34" charset="0"/>
                <a:ea typeface="Consolas" pitchFamily="34" charset="-122"/>
                <a:cs typeface="Consolas" pitchFamily="34" charset="-120"/>
              </a:rPr>
              <a:t>Math.max(...tickets.map(t =&gt; t.id)) + 1</a:t>
            </a:r>
            <a:endParaRPr lang="en-US" sz="10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5233" y="2249289"/>
            <a:ext cx="2609289" cy="1167209"/>
          </a:xfrm>
          <a:prstGeom prst="rect">
            <a:avLst/>
          </a:prstGeom>
        </p:spPr>
      </p:pic>
      <p:sp>
        <p:nvSpPr>
          <p:cNvPr id="10" name="Text 6"/>
          <p:cNvSpPr/>
          <p:nvPr/>
        </p:nvSpPr>
        <p:spPr>
          <a:xfrm>
            <a:off x="3552736" y="2400598"/>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Array.filter()</a:t>
            </a:r>
            <a:endParaRPr lang="en-US" sz="1300" dirty="0"/>
          </a:p>
        </p:txBody>
      </p:sp>
      <p:sp>
        <p:nvSpPr>
          <p:cNvPr id="11" name="Text 7"/>
          <p:cNvSpPr/>
          <p:nvPr/>
        </p:nvSpPr>
        <p:spPr>
          <a:xfrm>
            <a:off x="3552736" y="2699841"/>
            <a:ext cx="2230481"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Pipeline Filtering: keyword → place → price</a:t>
            </a:r>
            <a:endParaRPr lang="en-US" sz="10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525" y="3509070"/>
            <a:ext cx="2609189" cy="781844"/>
          </a:xfrm>
          <a:prstGeom prst="rect">
            <a:avLst/>
          </a:prstGeom>
        </p:spPr>
      </p:pic>
      <p:sp>
        <p:nvSpPr>
          <p:cNvPr id="13" name="Text 8"/>
          <p:cNvSpPr/>
          <p:nvPr/>
        </p:nvSpPr>
        <p:spPr>
          <a:xfrm>
            <a:off x="870027" y="3660378"/>
            <a:ext cx="1730629"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Array.sort() + new Date()</a:t>
            </a:r>
            <a:endParaRPr lang="en-US" sz="1300" dirty="0"/>
          </a:p>
        </p:txBody>
      </p:sp>
      <p:sp>
        <p:nvSpPr>
          <p:cNvPr id="14" name="Text 9"/>
          <p:cNvSpPr/>
          <p:nvPr/>
        </p:nvSpPr>
        <p:spPr>
          <a:xfrm>
            <a:off x="870027" y="3959622"/>
            <a:ext cx="2230382"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Sắp xếp lịch sử vé (mới nhất trước)</a:t>
            </a:r>
            <a:endParaRPr lang="en-US" sz="10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25233" y="3509070"/>
            <a:ext cx="2609289" cy="781844"/>
          </a:xfrm>
          <a:prstGeom prst="rect">
            <a:avLst/>
          </a:prstGeom>
        </p:spPr>
      </p:pic>
      <p:sp>
        <p:nvSpPr>
          <p:cNvPr id="16" name="Text 10"/>
          <p:cNvSpPr/>
          <p:nvPr/>
        </p:nvSpPr>
        <p:spPr>
          <a:xfrm>
            <a:off x="3552736" y="3660378"/>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Template Literals</a:t>
            </a:r>
            <a:endParaRPr lang="en-US" sz="1300" dirty="0"/>
          </a:p>
        </p:txBody>
      </p:sp>
      <p:sp>
        <p:nvSpPr>
          <p:cNvPr id="17" name="Text 11"/>
          <p:cNvSpPr/>
          <p:nvPr/>
        </p:nvSpPr>
        <p:spPr>
          <a:xfrm>
            <a:off x="3552736" y="3959622"/>
            <a:ext cx="2230481"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Gán DOM 1 lần (hiệu năng tốt)</a:t>
            </a:r>
            <a:endParaRPr lang="en-US" sz="1000" dirty="0"/>
          </a:p>
        </p:txBody>
      </p:sp>
      <p:sp>
        <p:nvSpPr>
          <p:cNvPr id="18" name="Text 12"/>
          <p:cNvSpPr/>
          <p:nvPr/>
        </p:nvSpPr>
        <p:spPr>
          <a:xfrm>
            <a:off x="6263523" y="1938437"/>
            <a:ext cx="2882233" cy="206673"/>
          </a:xfrm>
          <a:prstGeom prst="rect">
            <a:avLst/>
          </a:prstGeom>
          <a:noFill/>
          <a:ln/>
        </p:spPr>
        <p:txBody>
          <a:bodyPr wrap="none" lIns="0" tIns="0" rIns="0" bIns="0" rtlCol="0" anchor="t"/>
          <a:lstStyle/>
          <a:p>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Mô Phỏng JOIN (Relational Data)</a:t>
            </a:r>
            <a:endParaRPr lang="en-US" sz="1300" dirty="0"/>
          </a:p>
        </p:txBody>
      </p:sp>
      <p:pic>
        <p:nvPicPr>
          <p:cNvPr id="19" name="Image 4" descr="preencoded.png">    </p:cNvPr>
          <p:cNvPicPr>
            <a:picLocks noChangeAspect="1"/>
          </p:cNvPicPr>
          <p:nvPr/>
        </p:nvPicPr>
        <p:blipFill>
          <a:blip r:embed="rId9"/>
          <a:stretch>
            <a:fillRect/>
          </a:stretch>
        </p:blipFill>
        <p:spPr>
          <a:xfrm>
            <a:off x="7054475" y="2249289"/>
            <a:ext cx="3691044" cy="2774355"/>
          </a:xfrm>
          <a:prstGeom prst="rect">
            <a:avLst/>
          </a:prstGeom>
        </p:spPr>
      </p:pic>
      <p:sp>
        <p:nvSpPr>
          <p:cNvPr id="20" name="Text 13"/>
          <p:cNvSpPr/>
          <p:nvPr/>
        </p:nvSpPr>
        <p:spPr>
          <a:xfrm>
            <a:off x="8561934" y="3578661"/>
            <a:ext cx="673131" cy="307842"/>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FFFFFF"/>
                </a:solidFill>
                <a:latin typeface="Crimson Pro SemiBold" pitchFamily="34" charset="0"/>
                <a:ea typeface="Crimson Pro SemiBold" pitchFamily="34" charset="-122"/>
                <a:cs typeface="Crimson Pro SemiBold" pitchFamily="34" charset="-120"/>
              </a:rPr>
              <a:t>JOIN mảng bằng JS</a:t>
            </a:r>
            <a:endParaRPr lang="en-US" sz="950" dirty="0"/>
          </a:p>
        </p:txBody>
      </p:sp>
      <p:sp>
        <p:nvSpPr>
          <p:cNvPr id="21" name="Text 14"/>
          <p:cNvSpPr/>
          <p:nvPr/>
        </p:nvSpPr>
        <p:spPr>
          <a:xfrm>
            <a:off x="9568894" y="4308845"/>
            <a:ext cx="1001402" cy="153921"/>
          </a:xfrm>
          <a:prstGeom prst="rect">
            <a:avLst/>
          </a:prstGeom>
          <a:noFill/>
          <a:ln/>
        </p:spPr>
        <p:txBody>
          <a:bodyPr wrap="none" lIns="0" tIns="0" rIns="0" bIns="0" rtlCol="0" anchor="t"/>
          <a:lstStyle/>
          <a:p>
            <a:pPr algn="ctr"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Places[]</a:t>
            </a:r>
            <a:endParaRPr lang="en-US" sz="950" dirty="0"/>
          </a:p>
        </p:txBody>
      </p:sp>
      <p:sp>
        <p:nvSpPr>
          <p:cNvPr id="22" name="Text 15"/>
          <p:cNvSpPr/>
          <p:nvPr/>
        </p:nvSpPr>
        <p:spPr>
          <a:xfrm>
            <a:off x="9568894" y="4506548"/>
            <a:ext cx="1001402" cy="209333"/>
          </a:xfrm>
          <a:prstGeom prst="rect">
            <a:avLst/>
          </a:prstGeom>
          <a:noFill/>
          <a:ln/>
        </p:spPr>
        <p:txBody>
          <a:bodyPr wrap="square" lIns="0" tIns="0" rIns="0" bIns="0" rtlCol="0" anchor="t">
            <a:normAutofit/>
          </a:bodyPr>
          <a:lstStyle/>
          <a:p>
            <a:pPr algn="ctr" indent="0" marL="0">
              <a:lnSpc>
                <a:spcPct val="89000"/>
              </a:lnSpc>
              <a:buNone/>
            </a:pPr>
            <a:r>
              <a:rPr lang="en-US" sz="750" dirty="0">
                <a:solidFill>
                  <a:srgbClr val="4C4C4D"/>
                </a:solidFill>
                <a:latin typeface="Heebo" pitchFamily="34" charset="0"/>
                <a:ea typeface="Heebo" pitchFamily="34" charset="-122"/>
                <a:cs typeface="Heebo" pitchFamily="34" charset="-120"/>
              </a:rPr>
              <a:t>Kết quả truy vấn chéo dữ liệu tour</a:t>
            </a:r>
            <a:endParaRPr lang="en-US" sz="750" dirty="0"/>
          </a:p>
        </p:txBody>
      </p:sp>
      <p:sp>
        <p:nvSpPr>
          <p:cNvPr id="23" name="Text 16"/>
          <p:cNvSpPr/>
          <p:nvPr/>
        </p:nvSpPr>
        <p:spPr>
          <a:xfrm>
            <a:off x="7221144" y="4308845"/>
            <a:ext cx="1001402" cy="153921"/>
          </a:xfrm>
          <a:prstGeom prst="rect">
            <a:avLst/>
          </a:prstGeom>
          <a:noFill/>
          <a:ln/>
        </p:spPr>
        <p:txBody>
          <a:bodyPr wrap="none" lIns="0" tIns="0" rIns="0" bIns="0" rtlCol="0" anchor="t"/>
          <a:lstStyle/>
          <a:p>
            <a:pPr algn="ctr"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Customers[]</a:t>
            </a:r>
            <a:endParaRPr lang="en-US" sz="950" dirty="0"/>
          </a:p>
        </p:txBody>
      </p:sp>
      <p:sp>
        <p:nvSpPr>
          <p:cNvPr id="24" name="Text 17"/>
          <p:cNvSpPr/>
          <p:nvPr/>
        </p:nvSpPr>
        <p:spPr>
          <a:xfrm>
            <a:off x="7221144" y="4506548"/>
            <a:ext cx="1001402" cy="209333"/>
          </a:xfrm>
          <a:prstGeom prst="rect">
            <a:avLst/>
          </a:prstGeom>
          <a:noFill/>
          <a:ln/>
        </p:spPr>
        <p:txBody>
          <a:bodyPr wrap="square" lIns="0" tIns="0" rIns="0" bIns="0" rtlCol="0" anchor="t">
            <a:normAutofit/>
          </a:bodyPr>
          <a:lstStyle/>
          <a:p>
            <a:pPr algn="ctr" indent="0" marL="0">
              <a:lnSpc>
                <a:spcPct val="89000"/>
              </a:lnSpc>
              <a:buNone/>
            </a:pPr>
            <a:r>
              <a:rPr lang="en-US" sz="750" dirty="0">
                <a:solidFill>
                  <a:srgbClr val="4C4C4D"/>
                </a:solidFill>
                <a:latin typeface="Heebo" pitchFamily="34" charset="0"/>
                <a:ea typeface="Heebo" pitchFamily="34" charset="-122"/>
                <a:cs typeface="Heebo" pitchFamily="34" charset="-120"/>
              </a:rPr>
              <a:t>→ Array.find() → Tickets[]</a:t>
            </a:r>
            <a:endParaRPr lang="en-US" sz="750" dirty="0"/>
          </a:p>
        </p:txBody>
      </p:sp>
      <p:sp>
        <p:nvSpPr>
          <p:cNvPr id="25" name="Text 18"/>
          <p:cNvSpPr/>
          <p:nvPr/>
        </p:nvSpPr>
        <p:spPr>
          <a:xfrm>
            <a:off x="8381338" y="2541489"/>
            <a:ext cx="1028766" cy="153921"/>
          </a:xfrm>
          <a:prstGeom prst="rect">
            <a:avLst/>
          </a:prstGeom>
          <a:noFill/>
          <a:ln/>
        </p:spPr>
        <p:txBody>
          <a:bodyPr wrap="none" lIns="0" tIns="0" rIns="0" bIns="0" rtlCol="0" anchor="t"/>
          <a:lstStyle/>
          <a:p>
            <a:pPr algn="ctr" indent="0" marL="0">
              <a:lnSpc>
                <a:spcPct val="104000"/>
              </a:lnSpc>
              <a:buNone/>
            </a:pPr>
            <a:r>
              <a:rPr lang="en-US" sz="950" dirty="0">
                <a:solidFill>
                  <a:srgbClr val="4C4C4D"/>
                </a:solidFill>
                <a:latin typeface="Crimson Pro SemiBold" pitchFamily="34" charset="0"/>
                <a:ea typeface="Crimson Pro SemiBold" pitchFamily="34" charset="-122"/>
                <a:cs typeface="Crimson Pro SemiBold" pitchFamily="34" charset="-120"/>
              </a:rPr>
              <a:t>Tours[]</a:t>
            </a:r>
            <a:endParaRPr lang="en-US" sz="950" dirty="0"/>
          </a:p>
        </p:txBody>
      </p:sp>
      <p:sp>
        <p:nvSpPr>
          <p:cNvPr id="26" name="Text 19"/>
          <p:cNvSpPr/>
          <p:nvPr/>
        </p:nvSpPr>
        <p:spPr>
          <a:xfrm>
            <a:off x="8381338" y="2739192"/>
            <a:ext cx="1028766" cy="104666"/>
          </a:xfrm>
          <a:prstGeom prst="rect">
            <a:avLst/>
          </a:prstGeom>
          <a:noFill/>
          <a:ln/>
        </p:spPr>
        <p:txBody>
          <a:bodyPr wrap="none" lIns="0" tIns="0" rIns="0" bIns="0" rtlCol="0" anchor="t"/>
          <a:lstStyle/>
          <a:p>
            <a:pPr algn="ctr" indent="0" marL="0">
              <a:lnSpc>
                <a:spcPct val="89000"/>
              </a:lnSpc>
              <a:buNone/>
            </a:pPr>
            <a:r>
              <a:rPr lang="en-US" sz="750" dirty="0">
                <a:solidFill>
                  <a:srgbClr val="4C4C4D"/>
                </a:solidFill>
                <a:latin typeface="Heebo" pitchFamily="34" charset="0"/>
                <a:ea typeface="Heebo" pitchFamily="34" charset="-122"/>
                <a:cs typeface="Heebo" pitchFamily="34" charset="-120"/>
              </a:rPr>
              <a:t>→ Array.find()</a:t>
            </a:r>
            <a:endParaRPr lang="en-US" sz="750" dirty="0"/>
          </a:p>
        </p:txBody>
      </p:sp>
      <p:sp>
        <p:nvSpPr>
          <p:cNvPr id="27" name="Shape 20"/>
          <p:cNvSpPr/>
          <p:nvPr/>
        </p:nvSpPr>
        <p:spPr>
          <a:xfrm>
            <a:off x="6263523" y="5127823"/>
            <a:ext cx="5272948" cy="605433"/>
          </a:xfrm>
          <a:prstGeom prst="roundRect">
            <a:avLst>
              <a:gd name="adj" fmla="val 3278"/>
            </a:avLst>
          </a:prstGeom>
          <a:solidFill>
            <a:srgbClr val="B6D6FC"/>
          </a:solidFill>
          <a:ln/>
        </p:spPr>
      </p:sp>
      <p:pic>
        <p:nvPicPr>
          <p:cNvPr id="28" name="Image 5" descr="preencoded.png">    </p:cNvPr>
          <p:cNvPicPr>
            <a:picLocks noChangeAspect="1"/>
          </p:cNvPicPr>
          <p:nvPr/>
        </p:nvPicPr>
        <p:blipFill>
          <a:blip r:embed="rId10"/>
          <a:stretch>
            <a:fillRect/>
          </a:stretch>
        </p:blipFill>
        <p:spPr>
          <a:xfrm>
            <a:off x="6395778" y="5304334"/>
            <a:ext cx="165294" cy="132259"/>
          </a:xfrm>
          <a:prstGeom prst="rect">
            <a:avLst/>
          </a:prstGeom>
        </p:spPr>
      </p:pic>
      <p:sp>
        <p:nvSpPr>
          <p:cNvPr id="29" name="Text 21"/>
          <p:cNvSpPr/>
          <p:nvPr/>
        </p:nvSpPr>
        <p:spPr>
          <a:xfrm>
            <a:off x="6693328" y="5244207"/>
            <a:ext cx="4710888" cy="3726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000000"/>
                </a:solidFill>
                <a:latin typeface="Heebo" pitchFamily="34" charset="0"/>
                <a:ea typeface="Heebo" pitchFamily="34" charset="-122"/>
                <a:cs typeface="Heebo" pitchFamily="34" charset="-120"/>
              </a:rPr>
              <a:t>Không có Backend SQL, nên tự viết hàm JOIN bằng </a:t>
            </a:r>
            <a:pPr algn="l" indent="0" marL="0">
              <a:lnSpc>
                <a:spcPct val="113000"/>
              </a:lnSpc>
              <a:buNone/>
            </a:pPr>
            <a:r>
              <a:rPr lang="en-US" sz="1000" dirty="0">
                <a:solidFill>
                  <a:srgbClr val="000000"/>
                </a:solidFill>
                <a:highlight>
                  <a:srgbClr val="F2F2F2"/>
                </a:highlight>
                <a:latin typeface="Consolas" pitchFamily="34" charset="0"/>
                <a:ea typeface="Consolas" pitchFamily="34" charset="-122"/>
                <a:cs typeface="Consolas" pitchFamily="34" charset="-120"/>
              </a:rPr>
              <a:t>Array.find()</a:t>
            </a:r>
            <a:pPr algn="l" indent="0" marL="0">
              <a:lnSpc>
                <a:spcPct val="113000"/>
              </a:lnSpc>
              <a:buNone/>
            </a:pPr>
            <a:r>
              <a:rPr lang="en-US" sz="1000" dirty="0">
                <a:solidFill>
                  <a:srgbClr val="000000"/>
                </a:solidFill>
                <a:latin typeface="Heebo" pitchFamily="34" charset="0"/>
                <a:ea typeface="Heebo" pitchFamily="34" charset="-122"/>
                <a:cs typeface="Heebo" pitchFamily="34" charset="-120"/>
              </a:rPr>
              <a:t> để truy vấn chéo giữa các mảng dữ liệu.</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574" y="617835"/>
            <a:ext cx="1012204" cy="236041"/>
          </a:xfrm>
          <a:prstGeom prst="roundRect">
            <a:avLst>
              <a:gd name="adj" fmla="val 6727"/>
            </a:avLst>
          </a:prstGeom>
          <a:noFill/>
          <a:ln w="6350">
            <a:solidFill>
              <a:srgbClr val="2150FE"/>
            </a:solidFill>
            <a:prstDash val="solid"/>
          </a:ln>
        </p:spPr>
      </p:sp>
      <p:sp>
        <p:nvSpPr>
          <p:cNvPr id="3" name="Text 1"/>
          <p:cNvSpPr/>
          <p:nvPr/>
        </p:nvSpPr>
        <p:spPr>
          <a:xfrm>
            <a:off x="747297" y="663873"/>
            <a:ext cx="1450343" cy="143966"/>
          </a:xfrm>
          <a:prstGeom prst="rect">
            <a:avLst/>
          </a:prstGeom>
          <a:noFill/>
          <a:ln/>
        </p:spPr>
        <p:txBody>
          <a:bodyPr wrap="none" lIns="0" tIns="0" rIns="0" bIns="0" rtlCol="0" anchor="t"/>
          <a:lstStyle/>
          <a:p>
            <a:pPr algn="l" indent="0" marL="0">
              <a:lnSpc>
                <a:spcPct val="113000"/>
              </a:lnSpc>
              <a:buNone/>
            </a:pPr>
            <a:r>
              <a:rPr lang="en-US" sz="800" dirty="0">
                <a:solidFill>
                  <a:srgbClr val="2150FE"/>
                </a:solidFill>
                <a:latin typeface="Heebo" pitchFamily="34" charset="0"/>
                <a:ea typeface="Heebo" pitchFamily="34" charset="-122"/>
                <a:cs typeface="Heebo" pitchFamily="34" charset="-120"/>
              </a:rPr>
              <a:t>RESULTS &amp; DEMO</a:t>
            </a:r>
            <a:endParaRPr lang="en-US" sz="800" dirty="0"/>
          </a:p>
        </p:txBody>
      </p:sp>
      <p:sp>
        <p:nvSpPr>
          <p:cNvPr id="4" name="Text 2"/>
          <p:cNvSpPr/>
          <p:nvPr/>
        </p:nvSpPr>
        <p:spPr>
          <a:xfrm>
            <a:off x="661574" y="890885"/>
            <a:ext cx="3917356" cy="413445"/>
          </a:xfrm>
          <a:prstGeom prst="rect">
            <a:avLst/>
          </a:prstGeom>
          <a:noFill/>
          <a:ln/>
        </p:spPr>
        <p:txBody>
          <a:bodyPr wrap="none" lIns="0" tIns="0" rIns="0" bIns="0" rtlCol="0" anchor="t"/>
          <a:lstStyle/>
          <a:p>
            <a:pPr algn="l" indent="0" marL="0">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Kết Quả &amp; Demo</a:t>
            </a:r>
            <a:endParaRPr lang="en-US" sz="2600" dirty="0"/>
          </a:p>
        </p:txBody>
      </p:sp>
      <p:sp>
        <p:nvSpPr>
          <p:cNvPr id="5" name="Text 3"/>
          <p:cNvSpPr/>
          <p:nvPr/>
        </p:nvSpPr>
        <p:spPr>
          <a:xfrm>
            <a:off x="661574" y="1535807"/>
            <a:ext cx="3946525" cy="213023"/>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 UI Screenshots — Home &amp; Customer Reviews</a:t>
            </a:r>
            <a:endParaRPr lang="en-US" sz="1300" dirty="0"/>
          </a:p>
        </p:txBody>
      </p:sp>
      <p:pic>
        <p:nvPicPr>
          <p:cNvPr id="6" name="Image 0" descr="preencoded.png">    </p:cNvPr>
          <p:cNvPicPr>
            <a:picLocks noChangeAspect="1"/>
          </p:cNvPicPr>
          <p:nvPr/>
        </p:nvPicPr>
        <p:blipFill>
          <a:blip r:embed="rId1"/>
          <a:stretch>
            <a:fillRect/>
          </a:stretch>
        </p:blipFill>
        <p:spPr>
          <a:xfrm>
            <a:off x="661574" y="1853009"/>
            <a:ext cx="4082650" cy="1835348"/>
          </a:xfrm>
          <a:prstGeom prst="rect">
            <a:avLst/>
          </a:prstGeom>
        </p:spPr>
      </p:pic>
      <p:pic>
        <p:nvPicPr>
          <p:cNvPr id="7" name="Image 1" descr="preencoded.png">    </p:cNvPr>
          <p:cNvPicPr>
            <a:picLocks noChangeAspect="1"/>
          </p:cNvPicPr>
          <p:nvPr/>
        </p:nvPicPr>
        <p:blipFill>
          <a:blip r:embed="rId2"/>
          <a:stretch>
            <a:fillRect/>
          </a:stretch>
        </p:blipFill>
        <p:spPr>
          <a:xfrm>
            <a:off x="661574" y="3792538"/>
            <a:ext cx="4082650" cy="1972171"/>
          </a:xfrm>
          <a:prstGeom prst="rect">
            <a:avLst/>
          </a:prstGeom>
        </p:spPr>
      </p:pic>
      <p:sp>
        <p:nvSpPr>
          <p:cNvPr id="8" name="Text 4"/>
          <p:cNvSpPr/>
          <p:nvPr/>
        </p:nvSpPr>
        <p:spPr>
          <a:xfrm>
            <a:off x="661574" y="5868888"/>
            <a:ext cx="5832428" cy="287933"/>
          </a:xfrm>
          <a:prstGeom prst="rect">
            <a:avLst/>
          </a:prstGeom>
          <a:noFill/>
          <a:ln/>
        </p:spPr>
        <p:txBody>
          <a:bodyPr wrap="square" lIns="0" tIns="0" rIns="0" bIns="0" rtlCol="0" anchor="t">
            <a:normAutofit/>
          </a:bodyPr>
          <a:lstStyle/>
          <a:p>
            <a:pPr algn="l" indent="0" marL="0">
              <a:lnSpc>
                <a:spcPct val="113000"/>
              </a:lnSpc>
              <a:buNone/>
            </a:pPr>
            <a:r>
              <a:rPr lang="en-US" sz="800" i="1" dirty="0">
                <a:solidFill>
                  <a:srgbClr val="4C4C4D"/>
                </a:solidFill>
                <a:latin typeface="Heebo" pitchFamily="34" charset="0"/>
                <a:ea typeface="Heebo" pitchFamily="34" charset="-122"/>
                <a:cs typeface="Heebo" pitchFamily="34" charset="-120"/>
              </a:rPr>
              <a:t>Featured Tours (3 tour nổi bật) và Customer Reviews — dữ liệu load động từ DB mô phỏng qua truy xuất bảng chéo rates ➔ tickets ➔ customers.</a:t>
            </a:r>
            <a:endParaRPr lang="en-US" sz="800" dirty="0"/>
          </a:p>
        </p:txBody>
      </p:sp>
      <p:sp>
        <p:nvSpPr>
          <p:cNvPr id="9" name="Text 5"/>
          <p:cNvSpPr/>
          <p:nvPr/>
        </p:nvSpPr>
        <p:spPr>
          <a:xfrm>
            <a:off x="6823004" y="1535807"/>
            <a:ext cx="2263421" cy="206673"/>
          </a:xfrm>
          <a:prstGeom prst="rect">
            <a:avLst/>
          </a:prstGeom>
          <a:noFill/>
          <a:ln/>
        </p:spPr>
        <p:txBody>
          <a:bodyPr wrap="none" lIns="0" tIns="0" rIns="0" bIns="0" rtlCol="0" anchor="t"/>
          <a:lstStyle/>
          <a:p>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Kết Quả Đạt Được</a:t>
            </a:r>
            <a:endParaRPr lang="en-US" sz="1300" dirty="0"/>
          </a:p>
        </p:txBody>
      </p:sp>
      <p:pic>
        <p:nvPicPr>
          <p:cNvPr id="10"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03954" y="1846659"/>
            <a:ext cx="2329400" cy="961827"/>
          </a:xfrm>
          <a:prstGeom prst="rect">
            <a:avLst/>
          </a:prstGeom>
        </p:spPr>
      </p:pic>
      <p:sp>
        <p:nvSpPr>
          <p:cNvPr id="11" name="Text 6"/>
          <p:cNvSpPr/>
          <p:nvPr/>
        </p:nvSpPr>
        <p:spPr>
          <a:xfrm>
            <a:off x="7031457" y="1997968"/>
            <a:ext cx="1860900"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Hệ thống Booking khép kín</a:t>
            </a:r>
            <a:endParaRPr lang="en-US" sz="1300" dirty="0"/>
          </a:p>
        </p:txBody>
      </p:sp>
      <p:sp>
        <p:nvSpPr>
          <p:cNvPr id="12" name="Text 7"/>
          <p:cNvSpPr/>
          <p:nvPr/>
        </p:nvSpPr>
        <p:spPr>
          <a:xfrm>
            <a:off x="7031457" y="2297212"/>
            <a:ext cx="1950592"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Từ đăng ký đến lịch sử, hoàn toàn Frontend</a:t>
            </a:r>
            <a:endParaRPr lang="en-US" sz="1000" dirty="0"/>
          </a:p>
        </p:txBody>
      </p:sp>
      <p:pic>
        <p:nvPicPr>
          <p:cNvPr id="13"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06873" y="1846659"/>
            <a:ext cx="2329499" cy="961827"/>
          </a:xfrm>
          <a:prstGeom prst="rect">
            <a:avLst/>
          </a:prstGeom>
        </p:spPr>
      </p:pic>
      <p:sp>
        <p:nvSpPr>
          <p:cNvPr id="14" name="Text 8"/>
          <p:cNvSpPr/>
          <p:nvPr/>
        </p:nvSpPr>
        <p:spPr>
          <a:xfrm>
            <a:off x="9434376" y="1997968"/>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Kiến trúc 5 tầng</a:t>
            </a:r>
            <a:endParaRPr lang="en-US" sz="1300" dirty="0"/>
          </a:p>
        </p:txBody>
      </p:sp>
      <p:sp>
        <p:nvSpPr>
          <p:cNvPr id="15" name="Text 9"/>
          <p:cNvSpPr/>
          <p:nvPr/>
        </p:nvSpPr>
        <p:spPr>
          <a:xfrm>
            <a:off x="9434376" y="2297212"/>
            <a:ext cx="1950691"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Separation of Concerns, dễ bảo trì</a:t>
            </a:r>
            <a:endParaRPr lang="en-US" sz="1000" dirty="0"/>
          </a:p>
        </p:txBody>
      </p:sp>
      <p:pic>
        <p:nvPicPr>
          <p:cNvPr id="16"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03954" y="2901057"/>
            <a:ext cx="2329400" cy="974527"/>
          </a:xfrm>
          <a:prstGeom prst="rect">
            <a:avLst/>
          </a:prstGeom>
        </p:spPr>
      </p:pic>
      <p:sp>
        <p:nvSpPr>
          <p:cNvPr id="17" name="Text 10"/>
          <p:cNvSpPr/>
          <p:nvPr/>
        </p:nvSpPr>
        <p:spPr>
          <a:xfrm>
            <a:off x="7031457" y="3052366"/>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Làm chủ Vanilla JS</a:t>
            </a:r>
            <a:endParaRPr lang="en-US" sz="1300" dirty="0"/>
          </a:p>
        </p:txBody>
      </p:sp>
      <p:sp>
        <p:nvSpPr>
          <p:cNvPr id="18" name="Text 11"/>
          <p:cNvSpPr/>
          <p:nvPr/>
        </p:nvSpPr>
        <p:spPr>
          <a:xfrm>
            <a:off x="7031457" y="3351609"/>
            <a:ext cx="1950592"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DOM manipulation, Events, Array Methods ES6+</a:t>
            </a:r>
            <a:endParaRPr lang="en-US" sz="1000" dirty="0"/>
          </a:p>
        </p:txBody>
      </p:sp>
      <p:pic>
        <p:nvPicPr>
          <p:cNvPr id="19"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6873" y="2901057"/>
            <a:ext cx="2329499" cy="974527"/>
          </a:xfrm>
          <a:prstGeom prst="rect">
            <a:avLst/>
          </a:prstGeom>
        </p:spPr>
      </p:pic>
      <p:sp>
        <p:nvSpPr>
          <p:cNvPr id="20" name="Text 12"/>
          <p:cNvSpPr/>
          <p:nvPr/>
        </p:nvSpPr>
        <p:spPr>
          <a:xfrm>
            <a:off x="9434376" y="3052366"/>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Mô phỏng Database</a:t>
            </a:r>
            <a:endParaRPr lang="en-US" sz="1300" dirty="0"/>
          </a:p>
        </p:txBody>
      </p:sp>
      <p:sp>
        <p:nvSpPr>
          <p:cNvPr id="21" name="Text 13"/>
          <p:cNvSpPr/>
          <p:nvPr/>
        </p:nvSpPr>
        <p:spPr>
          <a:xfrm>
            <a:off x="9434376" y="3351609"/>
            <a:ext cx="1950691" cy="3726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JOIN bằng </a:t>
            </a:r>
            <a:pPr algn="l" indent="0" marL="0">
              <a:lnSpc>
                <a:spcPct val="113000"/>
              </a:lnSpc>
              <a:buNone/>
            </a:pPr>
            <a:r>
              <a:rPr lang="en-US" sz="1000" dirty="0">
                <a:solidFill>
                  <a:srgbClr val="4C4C4D"/>
                </a:solidFill>
                <a:highlight>
                  <a:srgbClr val="F2F2F2"/>
                </a:highlight>
                <a:latin typeface="Consolas" pitchFamily="34" charset="0"/>
                <a:ea typeface="Consolas" pitchFamily="34" charset="-122"/>
                <a:cs typeface="Consolas" pitchFamily="34" charset="-120"/>
              </a:rPr>
              <a:t>Array.find()</a:t>
            </a:r>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 Relational Data</a:t>
            </a:r>
            <a:endParaRPr lang="en-US" sz="1000" dirty="0"/>
          </a:p>
        </p:txBody>
      </p:sp>
      <p:sp>
        <p:nvSpPr>
          <p:cNvPr id="22" name="Text 14"/>
          <p:cNvSpPr/>
          <p:nvPr/>
        </p:nvSpPr>
        <p:spPr>
          <a:xfrm>
            <a:off x="6823004" y="3979763"/>
            <a:ext cx="2263421" cy="206673"/>
          </a:xfrm>
          <a:prstGeom prst="rect">
            <a:avLst/>
          </a:prstGeom>
          <a:noFill/>
          <a:ln/>
        </p:spPr>
        <p:txBody>
          <a:bodyPr wrap="none" lIns="0" tIns="0" rIns="0" bIns="0" rtlCol="0" anchor="t"/>
          <a:lstStyle/>
          <a:p>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Kịch Bản Demo</a:t>
            </a:r>
            <a:endParaRPr lang="en-US" sz="1300" dirty="0"/>
          </a:p>
        </p:txBody>
      </p:sp>
      <p:sp>
        <p:nvSpPr>
          <p:cNvPr id="23" name="Text 15"/>
          <p:cNvSpPr/>
          <p:nvPr/>
        </p:nvSpPr>
        <p:spPr>
          <a:xfrm>
            <a:off x="6823004" y="4279007"/>
            <a:ext cx="4713368" cy="1029295"/>
          </a:xfrm>
          <a:prstGeom prst="rect">
            <a:avLst/>
          </a:prstGeom>
          <a:noFill/>
          <a:ln/>
        </p:spPr>
        <p:txBody>
          <a:bodyPr wrap="square" lIns="0" tIns="0" rIns="0" bIns="0" rtlCol="0" anchor="t">
            <a:normAutofit/>
          </a:bodyPr>
          <a:lstStyle/>
          <a:p>
            <a:pPr algn="l" marL="342900" indent="-342900">
              <a:lnSpc>
                <a:spcPct val="113000"/>
              </a:lnSpc>
              <a:buSzPct val="100000"/>
              <a:buFont typeface="+mj-lt"/>
              <a:buAutoNum type="arabicPeriod" startAt="1"/>
            </a:pPr>
            <a:r>
              <a:rPr lang="en-US" sz="1000" dirty="0">
                <a:solidFill>
                  <a:srgbClr val="4C4C4D"/>
                </a:solidFill>
                <a:latin typeface="Heebo" pitchFamily="34" charset="0"/>
                <a:ea typeface="Heebo" pitchFamily="34" charset="-122"/>
                <a:cs typeface="Heebo" pitchFamily="34" charset="-120"/>
              </a:rPr>
              <a:t>Tạo tài khoản mới</a:t>
            </a:r>
            <a:endParaRPr lang="en-US" sz="1000" dirty="0"/>
          </a:p>
          <a:p>
            <a:pPr algn="l" marL="342900" indent="-342900">
              <a:lnSpc>
                <a:spcPct val="113000"/>
              </a:lnSpc>
              <a:buSzPct val="100000"/>
              <a:buFont typeface="+mj-lt"/>
              <a:buAutoNum type="arabicPeriod" startAt="2"/>
            </a:pPr>
            <a:r>
              <a:rPr lang="en-US" sz="1000" dirty="0">
                <a:solidFill>
                  <a:srgbClr val="4C4C4D"/>
                </a:solidFill>
                <a:latin typeface="Heebo" pitchFamily="34" charset="0"/>
                <a:ea typeface="Heebo" pitchFamily="34" charset="-122"/>
                <a:cs typeface="Heebo" pitchFamily="34" charset="-120"/>
              </a:rPr>
              <a:t>Tìm tour "Bay" (keyword search)</a:t>
            </a:r>
            <a:endParaRPr lang="en-US" sz="1000" dirty="0"/>
          </a:p>
          <a:p>
            <a:pPr algn="l" marL="342900" indent="-342900">
              <a:lnSpc>
                <a:spcPct val="113000"/>
              </a:lnSpc>
              <a:buSzPct val="100000"/>
              <a:buFont typeface="+mj-lt"/>
              <a:buAutoNum type="arabicPeriod" startAt="3"/>
            </a:pPr>
            <a:r>
              <a:rPr lang="en-US" sz="1000" dirty="0">
                <a:solidFill>
                  <a:srgbClr val="4C4C4D"/>
                </a:solidFill>
                <a:latin typeface="Heebo" pitchFamily="34" charset="0"/>
                <a:ea typeface="Heebo" pitchFamily="34" charset="-122"/>
                <a:cs typeface="Heebo" pitchFamily="34" charset="-120"/>
              </a:rPr>
              <a:t>Đặt 2 vé (real-time price calculation)</a:t>
            </a:r>
            <a:endParaRPr lang="en-US" sz="1000" dirty="0"/>
          </a:p>
          <a:p>
            <a:pPr algn="l" marL="342900" indent="-342900">
              <a:lnSpc>
                <a:spcPct val="113000"/>
              </a:lnSpc>
              <a:buSzPct val="100000"/>
              <a:buFont typeface="+mj-lt"/>
              <a:buAutoNum type="arabicPeriod" startAt="4"/>
            </a:pPr>
            <a:r>
              <a:rPr lang="en-US" sz="1000" dirty="0">
                <a:solidFill>
                  <a:srgbClr val="4C4C4D"/>
                </a:solidFill>
                <a:latin typeface="Heebo" pitchFamily="34" charset="0"/>
                <a:ea typeface="Heebo" pitchFamily="34" charset="-122"/>
                <a:cs typeface="Heebo" pitchFamily="34" charset="-120"/>
              </a:rPr>
              <a:t>Kiểm tra lịch sử đặt vé</a:t>
            </a:r>
            <a:endParaRPr lang="en-US" sz="1000" dirty="0"/>
          </a:p>
          <a:p>
            <a:pPr algn="l" marL="342900" indent="-342900">
              <a:lnSpc>
                <a:spcPct val="113000"/>
              </a:lnSpc>
              <a:buSzPct val="100000"/>
              <a:buFont typeface="+mj-lt"/>
              <a:buAutoNum type="arabicPeriod" startAt="5"/>
            </a:pPr>
            <a:r>
              <a:rPr lang="en-US" sz="1000" dirty="0">
                <a:solidFill>
                  <a:srgbClr val="4C4C4D"/>
                </a:solidFill>
                <a:latin typeface="Heebo" pitchFamily="34" charset="0"/>
                <a:ea typeface="Heebo" pitchFamily="34" charset="-122"/>
                <a:cs typeface="Heebo" pitchFamily="34" charset="-120"/>
              </a:rPr>
              <a:t>Xem thông tin khách hàng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574" y="612279"/>
            <a:ext cx="1369879" cy="277515"/>
          </a:xfrm>
          <a:prstGeom prst="roundRect">
            <a:avLst>
              <a:gd name="adj" fmla="val 6539"/>
            </a:avLst>
          </a:prstGeom>
          <a:noFill/>
          <a:ln w="6350">
            <a:solidFill>
              <a:srgbClr val="2150FE"/>
            </a:solidFill>
            <a:prstDash val="solid"/>
          </a:ln>
        </p:spPr>
      </p:sp>
      <p:sp>
        <p:nvSpPr>
          <p:cNvPr id="3" name="Text 1"/>
          <p:cNvSpPr/>
          <p:nvPr/>
        </p:nvSpPr>
        <p:spPr>
          <a:xfrm>
            <a:off x="758608" y="663972"/>
            <a:ext cx="1785397" cy="174129"/>
          </a:xfrm>
          <a:prstGeom prst="rect">
            <a:avLst/>
          </a:prstGeom>
          <a:noFill/>
          <a:ln/>
        </p:spPr>
        <p:txBody>
          <a:bodyPr wrap="none" lIns="0" tIns="0" rIns="0" bIns="0" rtlCol="0" anchor="t"/>
          <a:lstStyle/>
          <a:p>
            <a:pPr algn="l" indent="0" marL="0">
              <a:lnSpc>
                <a:spcPct val="120000"/>
              </a:lnSpc>
              <a:buNone/>
            </a:pPr>
            <a:r>
              <a:rPr lang="en-US" sz="950" dirty="0">
                <a:solidFill>
                  <a:srgbClr val="2150FE"/>
                </a:solidFill>
                <a:latin typeface="Heebo" pitchFamily="34" charset="0"/>
                <a:ea typeface="Heebo" pitchFamily="34" charset="-122"/>
                <a:cs typeface="Heebo" pitchFamily="34" charset="-120"/>
              </a:rPr>
              <a:t>ĐÁNH GIÁ HỆ THỐNG</a:t>
            </a:r>
            <a:endParaRPr lang="en-US" sz="950" dirty="0"/>
          </a:p>
        </p:txBody>
      </p:sp>
      <p:sp>
        <p:nvSpPr>
          <p:cNvPr id="4" name="Text 2"/>
          <p:cNvSpPr/>
          <p:nvPr/>
        </p:nvSpPr>
        <p:spPr>
          <a:xfrm>
            <a:off x="661574" y="938113"/>
            <a:ext cx="7314620" cy="472480"/>
          </a:xfrm>
          <a:prstGeom prst="rect">
            <a:avLst/>
          </a:prstGeom>
          <a:noFill/>
          <a:ln/>
        </p:spPr>
        <p:txBody>
          <a:bodyPr wrap="none" lIns="0" tIns="0" rIns="0" bIns="0" rtlCol="0" anchor="t"/>
          <a:lstStyle/>
          <a:p>
            <a:pPr algn="l" indent="0" marL="0">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Ưu Điểm, Nhược Điểm &amp; Hướng Phát Triển</a:t>
            </a:r>
            <a:endParaRPr lang="en-US" sz="2950" dirty="0"/>
          </a:p>
        </p:txBody>
      </p:sp>
      <p:sp>
        <p:nvSpPr>
          <p:cNvPr id="5" name="Text 3"/>
          <p:cNvSpPr/>
          <p:nvPr/>
        </p:nvSpPr>
        <p:spPr>
          <a:xfrm>
            <a:off x="661574" y="1712912"/>
            <a:ext cx="2499754" cy="23624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 Ưu Điểm</a:t>
            </a:r>
            <a:endParaRPr lang="en-US"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525" y="2085181"/>
            <a:ext cx="3358471" cy="915392"/>
          </a:xfrm>
          <a:prstGeom prst="rect">
            <a:avLst/>
          </a:prstGeom>
        </p:spPr>
      </p:pic>
      <p:sp>
        <p:nvSpPr>
          <p:cNvPr id="7" name="Text 4"/>
          <p:cNvSpPr/>
          <p:nvPr/>
        </p:nvSpPr>
        <p:spPr>
          <a:xfrm>
            <a:off x="888978" y="2255441"/>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Hiệu năng cao</a:t>
            </a:r>
            <a:endParaRPr lang="en-US" sz="1450" dirty="0"/>
          </a:p>
        </p:txBody>
      </p:sp>
      <p:sp>
        <p:nvSpPr>
          <p:cNvPr id="8" name="Text 5"/>
          <p:cNvSpPr/>
          <p:nvPr/>
        </p:nvSpPr>
        <p:spPr>
          <a:xfrm>
            <a:off x="888978" y="2612628"/>
            <a:ext cx="29417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Không phát sinh độ trễ server</a:t>
            </a:r>
            <a:endParaRPr lang="en-US" sz="11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25" y="3121521"/>
            <a:ext cx="3358471" cy="915392"/>
          </a:xfrm>
          <a:prstGeom prst="rect">
            <a:avLst/>
          </a:prstGeom>
        </p:spPr>
      </p:pic>
      <p:sp>
        <p:nvSpPr>
          <p:cNvPr id="10" name="Text 6"/>
          <p:cNvSpPr/>
          <p:nvPr/>
        </p:nvSpPr>
        <p:spPr>
          <a:xfrm>
            <a:off x="888978" y="3291780"/>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Kiến trúc phân tầng</a:t>
            </a:r>
            <a:endParaRPr lang="en-US" sz="1450" dirty="0"/>
          </a:p>
        </p:txBody>
      </p:sp>
      <p:sp>
        <p:nvSpPr>
          <p:cNvPr id="11" name="Text 7"/>
          <p:cNvSpPr/>
          <p:nvPr/>
        </p:nvSpPr>
        <p:spPr>
          <a:xfrm>
            <a:off x="888978" y="3648968"/>
            <a:ext cx="29417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Dễ bảo trì, mở rộng</a:t>
            </a:r>
            <a:endParaRPr lang="en-US" sz="11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525" y="4157861"/>
            <a:ext cx="3358471" cy="915392"/>
          </a:xfrm>
          <a:prstGeom prst="rect">
            <a:avLst/>
          </a:prstGeom>
        </p:spPr>
      </p:pic>
      <p:sp>
        <p:nvSpPr>
          <p:cNvPr id="13" name="Text 8"/>
          <p:cNvSpPr/>
          <p:nvPr/>
        </p:nvSpPr>
        <p:spPr>
          <a:xfrm>
            <a:off x="888978" y="4328120"/>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Sẵn sàng nâng cấp</a:t>
            </a:r>
            <a:endParaRPr lang="en-US" sz="1450" dirty="0"/>
          </a:p>
        </p:txBody>
      </p:sp>
      <p:sp>
        <p:nvSpPr>
          <p:cNvPr id="14" name="Text 9"/>
          <p:cNvSpPr/>
          <p:nvPr/>
        </p:nvSpPr>
        <p:spPr>
          <a:xfrm>
            <a:off x="888978" y="4685308"/>
            <a:ext cx="29417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Storage layer tách biệt</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525" y="5194201"/>
            <a:ext cx="3358471" cy="915392"/>
          </a:xfrm>
          <a:prstGeom prst="rect">
            <a:avLst/>
          </a:prstGeom>
        </p:spPr>
      </p:pic>
      <p:sp>
        <p:nvSpPr>
          <p:cNvPr id="16" name="Text 10"/>
          <p:cNvSpPr/>
          <p:nvPr/>
        </p:nvSpPr>
        <p:spPr>
          <a:xfrm>
            <a:off x="888978" y="5364460"/>
            <a:ext cx="1890169"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Làm chủ Vanilla JS</a:t>
            </a:r>
            <a:endParaRPr lang="en-US" sz="1450" dirty="0"/>
          </a:p>
        </p:txBody>
      </p:sp>
      <p:sp>
        <p:nvSpPr>
          <p:cNvPr id="17" name="Text 11"/>
          <p:cNvSpPr/>
          <p:nvPr/>
        </p:nvSpPr>
        <p:spPr>
          <a:xfrm>
            <a:off x="888978" y="5721648"/>
            <a:ext cx="2941762" cy="217686"/>
          </a:xfrm>
          <a:prstGeom prst="rect">
            <a:avLst/>
          </a:prstGeom>
          <a:noFill/>
          <a:ln/>
        </p:spPr>
        <p:txBody>
          <a:bodyPr wrap="none" lIns="0" tIns="0" rIns="0" bIns="0" rtlCol="0" anchor="t"/>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Không phụ thuộc framework</a:t>
            </a:r>
            <a:endParaRPr lang="en-US" sz="1150" dirty="0"/>
          </a:p>
        </p:txBody>
      </p:sp>
      <p:sp>
        <p:nvSpPr>
          <p:cNvPr id="18" name="Text 12"/>
          <p:cNvSpPr/>
          <p:nvPr/>
        </p:nvSpPr>
        <p:spPr>
          <a:xfrm>
            <a:off x="4376231" y="1712912"/>
            <a:ext cx="2499754" cy="23624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 Nhược Điểm</a:t>
            </a:r>
            <a:endParaRPr lang="en-US" sz="1450" dirty="0"/>
          </a:p>
        </p:txBody>
      </p:sp>
      <p:sp>
        <p:nvSpPr>
          <p:cNvPr id="19" name="Shape 13"/>
          <p:cNvSpPr/>
          <p:nvPr/>
        </p:nvSpPr>
        <p:spPr>
          <a:xfrm>
            <a:off x="4376231" y="2168327"/>
            <a:ext cx="75603" cy="75605"/>
          </a:xfrm>
          <a:prstGeom prst="roundRect">
            <a:avLst>
              <a:gd name="adj" fmla="val 503936"/>
            </a:avLst>
          </a:prstGeom>
          <a:solidFill>
            <a:srgbClr val="2150FE"/>
          </a:solidFill>
          <a:ln/>
        </p:spPr>
      </p:sp>
      <p:sp>
        <p:nvSpPr>
          <p:cNvPr id="20" name="Text 14"/>
          <p:cNvSpPr/>
          <p:nvPr/>
        </p:nvSpPr>
        <p:spPr>
          <a:xfrm>
            <a:off x="4572779" y="2085181"/>
            <a:ext cx="3255286" cy="435372"/>
          </a:xfrm>
          <a:prstGeom prst="rect">
            <a:avLst/>
          </a:prstGeom>
          <a:noFill/>
          <a:ln/>
        </p:spPr>
        <p:txBody>
          <a:bodyPr wrap="square" lIns="0" tIns="0" rIns="0" bIns="0" rtlCol="0" anchor="t">
            <a:normAutofit/>
          </a:bodyPr>
          <a:lstStyle/>
          <a:p>
            <a:pPr algn="l" indent="0" marL="0">
              <a:lnSpc>
                <a:spcPct val="120000"/>
              </a:lnSpc>
              <a:buNone/>
            </a:pPr>
            <a:r>
              <a:rPr lang="en-US" sz="1150" b="1" dirty="0">
                <a:solidFill>
                  <a:srgbClr val="4C4C4D"/>
                </a:solidFill>
                <a:latin typeface="Heebo" pitchFamily="34" charset="0"/>
                <a:ea typeface="Heebo" pitchFamily="34" charset="-122"/>
                <a:cs typeface="Heebo" pitchFamily="34" charset="-120"/>
              </a:rPr>
              <a:t>Chưa Responsive:</a:t>
            </a:r>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 CSS Grid 3 cột chưa tối ưu Mobile</a:t>
            </a:r>
            <a:endParaRPr lang="en-US" sz="1150" dirty="0"/>
          </a:p>
        </p:txBody>
      </p:sp>
      <p:sp>
        <p:nvSpPr>
          <p:cNvPr id="21" name="Shape 15"/>
          <p:cNvSpPr/>
          <p:nvPr/>
        </p:nvSpPr>
        <p:spPr>
          <a:xfrm>
            <a:off x="4376231" y="2845594"/>
            <a:ext cx="75603" cy="75605"/>
          </a:xfrm>
          <a:prstGeom prst="roundRect">
            <a:avLst>
              <a:gd name="adj" fmla="val 503936"/>
            </a:avLst>
          </a:prstGeom>
          <a:solidFill>
            <a:srgbClr val="2150FE"/>
          </a:solidFill>
          <a:ln/>
        </p:spPr>
      </p:sp>
      <p:sp>
        <p:nvSpPr>
          <p:cNvPr id="22" name="Text 16"/>
          <p:cNvSpPr/>
          <p:nvPr/>
        </p:nvSpPr>
        <p:spPr>
          <a:xfrm>
            <a:off x="4572779" y="2762448"/>
            <a:ext cx="3255286" cy="435372"/>
          </a:xfrm>
          <a:prstGeom prst="rect">
            <a:avLst/>
          </a:prstGeom>
          <a:noFill/>
          <a:ln/>
        </p:spPr>
        <p:txBody>
          <a:bodyPr wrap="square" lIns="0" tIns="0" rIns="0" bIns="0" rtlCol="0" anchor="t">
            <a:normAutofit/>
          </a:bodyPr>
          <a:lstStyle/>
          <a:p>
            <a:pPr algn="l" indent="0" marL="0">
              <a:lnSpc>
                <a:spcPct val="120000"/>
              </a:lnSpc>
              <a:buNone/>
            </a:pPr>
            <a:r>
              <a:rPr lang="en-US" sz="1150" b="1" dirty="0">
                <a:solidFill>
                  <a:srgbClr val="4C4C4D"/>
                </a:solidFill>
                <a:latin typeface="Heebo" pitchFamily="34" charset="0"/>
                <a:ea typeface="Heebo" pitchFamily="34" charset="-122"/>
                <a:cs typeface="Heebo" pitchFamily="34" charset="-120"/>
              </a:rPr>
              <a:t>Bảo mật yếu:</a:t>
            </a:r>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 Mật khẩu Plaintext trong localStorage</a:t>
            </a:r>
            <a:endParaRPr lang="en-US" sz="1150" dirty="0"/>
          </a:p>
        </p:txBody>
      </p:sp>
      <p:sp>
        <p:nvSpPr>
          <p:cNvPr id="23" name="Shape 17"/>
          <p:cNvSpPr/>
          <p:nvPr/>
        </p:nvSpPr>
        <p:spPr>
          <a:xfrm>
            <a:off x="4376231" y="3522861"/>
            <a:ext cx="75603" cy="75605"/>
          </a:xfrm>
          <a:prstGeom prst="roundRect">
            <a:avLst>
              <a:gd name="adj" fmla="val 503936"/>
            </a:avLst>
          </a:prstGeom>
          <a:solidFill>
            <a:srgbClr val="2150FE"/>
          </a:solidFill>
          <a:ln/>
        </p:spPr>
      </p:sp>
      <p:sp>
        <p:nvSpPr>
          <p:cNvPr id="24" name="Text 18"/>
          <p:cNvSpPr/>
          <p:nvPr/>
        </p:nvSpPr>
        <p:spPr>
          <a:xfrm>
            <a:off x="4572779" y="3439716"/>
            <a:ext cx="3255286" cy="230386"/>
          </a:xfrm>
          <a:prstGeom prst="rect">
            <a:avLst/>
          </a:prstGeom>
          <a:noFill/>
          <a:ln/>
        </p:spPr>
        <p:txBody>
          <a:bodyPr wrap="none" lIns="0" tIns="0" rIns="0" bIns="0" rtlCol="0" anchor="t"/>
          <a:lstStyle/>
          <a:p>
            <a:pPr algn="l" indent="0" marL="0">
              <a:lnSpc>
                <a:spcPct val="120000"/>
              </a:lnSpc>
              <a:buNone/>
            </a:pPr>
            <a:r>
              <a:rPr lang="en-US" sz="1150" b="1" dirty="0">
                <a:solidFill>
                  <a:srgbClr val="4C4C4D"/>
                </a:solidFill>
                <a:latin typeface="Heebo" pitchFamily="34" charset="0"/>
                <a:ea typeface="Heebo" pitchFamily="34" charset="-122"/>
                <a:cs typeface="Heebo" pitchFamily="34" charset="-120"/>
              </a:rPr>
              <a:t>XSS tiềm ẩn:</a:t>
            </a:r>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 </a:t>
            </a:r>
            <a:pPr algn="l" indent="0" marL="0">
              <a:lnSpc>
                <a:spcPct val="120000"/>
              </a:lnSpc>
              <a:buNone/>
            </a:pPr>
            <a:r>
              <a:rPr lang="en-US" sz="1150" dirty="0">
                <a:solidFill>
                  <a:srgbClr val="4C4C4D"/>
                </a:solidFill>
                <a:highlight>
                  <a:srgbClr val="F2F2F2"/>
                </a:highlight>
                <a:latin typeface="Consolas" pitchFamily="34" charset="0"/>
                <a:ea typeface="Consolas" pitchFamily="34" charset="-122"/>
                <a:cs typeface="Consolas" pitchFamily="34" charset="-120"/>
              </a:rPr>
              <a:t>innerHTML</a:t>
            </a:r>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 chưa Sanitize</a:t>
            </a:r>
            <a:endParaRPr lang="en-US" sz="1150" dirty="0"/>
          </a:p>
        </p:txBody>
      </p:sp>
      <p:sp>
        <p:nvSpPr>
          <p:cNvPr id="25" name="Shape 19"/>
          <p:cNvSpPr/>
          <p:nvPr/>
        </p:nvSpPr>
        <p:spPr>
          <a:xfrm>
            <a:off x="4376231" y="3995142"/>
            <a:ext cx="75603" cy="75605"/>
          </a:xfrm>
          <a:prstGeom prst="roundRect">
            <a:avLst>
              <a:gd name="adj" fmla="val 503936"/>
            </a:avLst>
          </a:prstGeom>
          <a:solidFill>
            <a:srgbClr val="2150FE"/>
          </a:solidFill>
          <a:ln/>
        </p:spPr>
      </p:sp>
      <p:sp>
        <p:nvSpPr>
          <p:cNvPr id="26" name="Text 20"/>
          <p:cNvSpPr/>
          <p:nvPr/>
        </p:nvSpPr>
        <p:spPr>
          <a:xfrm>
            <a:off x="4572779" y="3911997"/>
            <a:ext cx="3255286" cy="217686"/>
          </a:xfrm>
          <a:prstGeom prst="rect">
            <a:avLst/>
          </a:prstGeom>
          <a:noFill/>
          <a:ln/>
        </p:spPr>
        <p:txBody>
          <a:bodyPr wrap="none" lIns="0" tIns="0" rIns="0" bIns="0" rtlCol="0" anchor="t"/>
          <a:lstStyle/>
          <a:p>
            <a:pPr algn="l" indent="0" marL="0">
              <a:lnSpc>
                <a:spcPct val="120000"/>
              </a:lnSpc>
              <a:buNone/>
            </a:pPr>
            <a:r>
              <a:rPr lang="en-US" sz="1150" b="1" dirty="0">
                <a:solidFill>
                  <a:srgbClr val="4C4C4D"/>
                </a:solidFill>
                <a:latin typeface="Heebo" pitchFamily="34" charset="0"/>
                <a:ea typeface="Heebo" pitchFamily="34" charset="-122"/>
                <a:cs typeface="Heebo" pitchFamily="34" charset="-120"/>
              </a:rPr>
              <a:t>Thiếu Payment Gateway:</a:t>
            </a:r>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 VNPAY</a:t>
            </a:r>
            <a:endParaRPr lang="en-US" sz="1150" dirty="0"/>
          </a:p>
        </p:txBody>
      </p:sp>
      <p:sp>
        <p:nvSpPr>
          <p:cNvPr id="27" name="Text 21"/>
          <p:cNvSpPr/>
          <p:nvPr/>
        </p:nvSpPr>
        <p:spPr>
          <a:xfrm>
            <a:off x="8203300" y="1712912"/>
            <a:ext cx="2499754" cy="23624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 Hướng Phát Triển</a:t>
            </a:r>
            <a:endParaRPr lang="en-US" sz="1450" dirty="0"/>
          </a:p>
        </p:txBody>
      </p:sp>
      <p:sp>
        <p:nvSpPr>
          <p:cNvPr id="28" name="Shape 22"/>
          <p:cNvSpPr/>
          <p:nvPr/>
        </p:nvSpPr>
        <p:spPr>
          <a:xfrm>
            <a:off x="9863486" y="2085181"/>
            <a:ext cx="19050" cy="3454598"/>
          </a:xfrm>
          <a:prstGeom prst="roundRect">
            <a:avLst>
              <a:gd name="adj" fmla="val 119067"/>
            </a:avLst>
          </a:prstGeom>
          <a:solidFill>
            <a:srgbClr val="D8D4D4"/>
          </a:solidFill>
          <a:ln/>
        </p:spPr>
      </p:sp>
      <p:sp>
        <p:nvSpPr>
          <p:cNvPr id="29" name="Shape 23"/>
          <p:cNvSpPr/>
          <p:nvPr/>
        </p:nvSpPr>
        <p:spPr>
          <a:xfrm>
            <a:off x="9268337" y="2245717"/>
            <a:ext cx="453617" cy="19050"/>
          </a:xfrm>
          <a:prstGeom prst="roundRect">
            <a:avLst>
              <a:gd name="adj" fmla="val 119067"/>
            </a:avLst>
          </a:prstGeom>
          <a:solidFill>
            <a:srgbClr val="D8D4D4"/>
          </a:solidFill>
          <a:ln/>
        </p:spPr>
      </p:sp>
      <p:sp>
        <p:nvSpPr>
          <p:cNvPr id="30" name="Shape 24"/>
          <p:cNvSpPr/>
          <p:nvPr/>
        </p:nvSpPr>
        <p:spPr>
          <a:xfrm>
            <a:off x="9702905" y="2085181"/>
            <a:ext cx="340213" cy="340221"/>
          </a:xfrm>
          <a:prstGeom prst="roundRect">
            <a:avLst>
              <a:gd name="adj" fmla="val 6667"/>
            </a:avLst>
          </a:prstGeom>
          <a:solidFill>
            <a:srgbClr val="F2EEEE"/>
          </a:solidFill>
          <a:ln/>
        </p:spPr>
      </p:sp>
      <p:sp>
        <p:nvSpPr>
          <p:cNvPr id="31" name="Text 25"/>
          <p:cNvSpPr/>
          <p:nvPr/>
        </p:nvSpPr>
        <p:spPr>
          <a:xfrm>
            <a:off x="9759557" y="2113508"/>
            <a:ext cx="226808" cy="283468"/>
          </a:xfrm>
          <a:prstGeom prst="rect">
            <a:avLst/>
          </a:prstGeom>
          <a:noFill/>
          <a:ln/>
        </p:spPr>
        <p:txBody>
          <a:bodyPr wrap="none" lIns="0" tIns="0" rIns="0" bIns="0" rtlCol="0" anchor="ctr"/>
          <a:lstStyle/>
          <a:p>
            <a:pPr algn="ctr" indent="0" marL="0">
              <a:lnSpc>
                <a:spcPct val="100000"/>
              </a:lnSpc>
              <a:buNone/>
            </a:pPr>
            <a:r>
              <a:rPr lang="en-US" sz="1750" dirty="0">
                <a:solidFill>
                  <a:srgbClr val="4C4C4D"/>
                </a:solidFill>
                <a:latin typeface="Crimson Pro SemiBold" pitchFamily="34" charset="0"/>
                <a:ea typeface="Crimson Pro SemiBold" pitchFamily="34" charset="-122"/>
                <a:cs typeface="Crimson Pro SemiBold" pitchFamily="34" charset="-120"/>
              </a:rPr>
              <a:t>1</a:t>
            </a:r>
            <a:endParaRPr lang="en-US" sz="1750" dirty="0"/>
          </a:p>
        </p:txBody>
      </p:sp>
      <p:sp>
        <p:nvSpPr>
          <p:cNvPr id="32" name="Text 26"/>
          <p:cNvSpPr/>
          <p:nvPr/>
        </p:nvSpPr>
        <p:spPr>
          <a:xfrm>
            <a:off x="8203300" y="2137073"/>
            <a:ext cx="913683" cy="236240"/>
          </a:xfrm>
          <a:prstGeom prst="rect">
            <a:avLst/>
          </a:prstGeom>
          <a:noFill/>
          <a:ln/>
        </p:spPr>
        <p:txBody>
          <a:bodyPr wrap="none" lIns="0" tIns="0" rIns="0" bIns="0" rtlCol="0" anchor="t"/>
          <a:lstStyle/>
          <a:p>
            <a:pPr algn="r"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Frontend</a:t>
            </a:r>
            <a:endParaRPr lang="en-US" sz="1450" dirty="0"/>
          </a:p>
        </p:txBody>
      </p:sp>
      <p:sp>
        <p:nvSpPr>
          <p:cNvPr id="33" name="Text 27"/>
          <p:cNvSpPr/>
          <p:nvPr/>
        </p:nvSpPr>
        <p:spPr>
          <a:xfrm>
            <a:off x="8203300" y="2494260"/>
            <a:ext cx="913683" cy="1306116"/>
          </a:xfrm>
          <a:prstGeom prst="rect">
            <a:avLst/>
          </a:prstGeom>
          <a:noFill/>
          <a:ln/>
        </p:spPr>
        <p:txBody>
          <a:bodyPr wrap="square" lIns="0" tIns="0" rIns="0" bIns="0" rtlCol="0" anchor="t">
            <a:normAutofit/>
          </a:bodyPr>
          <a:lstStyle/>
          <a:p>
            <a:pPr algn="r" indent="0" marL="0">
              <a:lnSpc>
                <a:spcPct val="120000"/>
              </a:lnSpc>
              <a:buNone/>
            </a:pPr>
            <a:r>
              <a:rPr lang="en-US" sz="1150" dirty="0">
                <a:solidFill>
                  <a:srgbClr val="4C4C4D"/>
                </a:solidFill>
                <a:latin typeface="Heebo" pitchFamily="34" charset="0"/>
                <a:ea typeface="Heebo" pitchFamily="34" charset="-122"/>
                <a:cs typeface="Heebo" pitchFamily="34" charset="-120"/>
              </a:rPr>
              <a:t>Responsive, Hash password (bcrypt), Sanitize HTML</a:t>
            </a:r>
            <a:endParaRPr lang="en-US" sz="1150" dirty="0"/>
          </a:p>
        </p:txBody>
      </p:sp>
      <p:sp>
        <p:nvSpPr>
          <p:cNvPr id="34" name="Shape 28"/>
          <p:cNvSpPr/>
          <p:nvPr/>
        </p:nvSpPr>
        <p:spPr>
          <a:xfrm>
            <a:off x="10024068" y="3092450"/>
            <a:ext cx="453617" cy="19050"/>
          </a:xfrm>
          <a:prstGeom prst="roundRect">
            <a:avLst>
              <a:gd name="adj" fmla="val 119067"/>
            </a:avLst>
          </a:prstGeom>
          <a:solidFill>
            <a:srgbClr val="D8D4D4"/>
          </a:solidFill>
          <a:ln/>
        </p:spPr>
      </p:sp>
      <p:sp>
        <p:nvSpPr>
          <p:cNvPr id="35" name="Shape 29"/>
          <p:cNvSpPr/>
          <p:nvPr/>
        </p:nvSpPr>
        <p:spPr>
          <a:xfrm>
            <a:off x="9702905" y="2931914"/>
            <a:ext cx="340213" cy="340221"/>
          </a:xfrm>
          <a:prstGeom prst="roundRect">
            <a:avLst>
              <a:gd name="adj" fmla="val 6667"/>
            </a:avLst>
          </a:prstGeom>
          <a:solidFill>
            <a:srgbClr val="F2EEEE"/>
          </a:solidFill>
          <a:ln/>
        </p:spPr>
      </p:sp>
      <p:sp>
        <p:nvSpPr>
          <p:cNvPr id="36" name="Text 30"/>
          <p:cNvSpPr/>
          <p:nvPr/>
        </p:nvSpPr>
        <p:spPr>
          <a:xfrm>
            <a:off x="9759557" y="2960241"/>
            <a:ext cx="226808" cy="283468"/>
          </a:xfrm>
          <a:prstGeom prst="rect">
            <a:avLst/>
          </a:prstGeom>
          <a:noFill/>
          <a:ln/>
        </p:spPr>
        <p:txBody>
          <a:bodyPr wrap="none" lIns="0" tIns="0" rIns="0" bIns="0" rtlCol="0" anchor="ctr"/>
          <a:lstStyle/>
          <a:p>
            <a:pPr algn="ctr" indent="0" marL="0">
              <a:lnSpc>
                <a:spcPct val="100000"/>
              </a:lnSpc>
              <a:buNone/>
            </a:pPr>
            <a:r>
              <a:rPr lang="en-US" sz="1750" dirty="0">
                <a:solidFill>
                  <a:srgbClr val="4C4C4D"/>
                </a:solidFill>
                <a:latin typeface="Crimson Pro SemiBold" pitchFamily="34" charset="0"/>
                <a:ea typeface="Crimson Pro SemiBold" pitchFamily="34" charset="-122"/>
                <a:cs typeface="Crimson Pro SemiBold" pitchFamily="34" charset="-120"/>
              </a:rPr>
              <a:t>2</a:t>
            </a:r>
            <a:endParaRPr lang="en-US" sz="1750" dirty="0"/>
          </a:p>
        </p:txBody>
      </p:sp>
      <p:sp>
        <p:nvSpPr>
          <p:cNvPr id="37" name="Text 31"/>
          <p:cNvSpPr/>
          <p:nvPr/>
        </p:nvSpPr>
        <p:spPr>
          <a:xfrm>
            <a:off x="10629039" y="2983805"/>
            <a:ext cx="913683" cy="236240"/>
          </a:xfrm>
          <a:prstGeom prst="rect">
            <a:avLst/>
          </a:prstGeom>
          <a:noFill/>
          <a:ln/>
        </p:spPr>
        <p:txBody>
          <a:bodyPr wrap="none" lIns="0" tIns="0" rIns="0" bIns="0" rtlCol="0" anchor="t"/>
          <a:lstStyle/>
          <a:p>
            <a:pPr algn="l"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Backend</a:t>
            </a:r>
            <a:endParaRPr lang="en-US" sz="1450" dirty="0"/>
          </a:p>
        </p:txBody>
      </p:sp>
      <p:sp>
        <p:nvSpPr>
          <p:cNvPr id="38" name="Text 32"/>
          <p:cNvSpPr/>
          <p:nvPr/>
        </p:nvSpPr>
        <p:spPr>
          <a:xfrm>
            <a:off x="10629039" y="3340993"/>
            <a:ext cx="913683"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D"/>
                </a:solidFill>
                <a:latin typeface="Heebo" pitchFamily="34" charset="0"/>
                <a:ea typeface="Heebo" pitchFamily="34" charset="-122"/>
                <a:cs typeface="Heebo" pitchFamily="34" charset="-120"/>
              </a:rPr>
              <a:t>Node.js + Express + MongoDB</a:t>
            </a:r>
            <a:endParaRPr lang="en-US" sz="1150" dirty="0"/>
          </a:p>
        </p:txBody>
      </p:sp>
      <p:sp>
        <p:nvSpPr>
          <p:cNvPr id="39" name="Shape 33"/>
          <p:cNvSpPr/>
          <p:nvPr/>
        </p:nvSpPr>
        <p:spPr>
          <a:xfrm>
            <a:off x="9268337" y="4202807"/>
            <a:ext cx="453617" cy="19050"/>
          </a:xfrm>
          <a:prstGeom prst="roundRect">
            <a:avLst>
              <a:gd name="adj" fmla="val 119067"/>
            </a:avLst>
          </a:prstGeom>
          <a:solidFill>
            <a:srgbClr val="D8D4D4"/>
          </a:solidFill>
          <a:ln/>
        </p:spPr>
      </p:sp>
      <p:sp>
        <p:nvSpPr>
          <p:cNvPr id="40" name="Shape 34"/>
          <p:cNvSpPr/>
          <p:nvPr/>
        </p:nvSpPr>
        <p:spPr>
          <a:xfrm>
            <a:off x="9702905" y="4042271"/>
            <a:ext cx="340213" cy="340221"/>
          </a:xfrm>
          <a:prstGeom prst="roundRect">
            <a:avLst>
              <a:gd name="adj" fmla="val 6667"/>
            </a:avLst>
          </a:prstGeom>
          <a:solidFill>
            <a:srgbClr val="F2EEEE"/>
          </a:solidFill>
          <a:ln/>
        </p:spPr>
      </p:sp>
      <p:sp>
        <p:nvSpPr>
          <p:cNvPr id="41" name="Text 35"/>
          <p:cNvSpPr/>
          <p:nvPr/>
        </p:nvSpPr>
        <p:spPr>
          <a:xfrm>
            <a:off x="9759557" y="4070598"/>
            <a:ext cx="226808" cy="283468"/>
          </a:xfrm>
          <a:prstGeom prst="rect">
            <a:avLst/>
          </a:prstGeom>
          <a:noFill/>
          <a:ln/>
        </p:spPr>
        <p:txBody>
          <a:bodyPr wrap="none" lIns="0" tIns="0" rIns="0" bIns="0" rtlCol="0" anchor="ctr"/>
          <a:lstStyle/>
          <a:p>
            <a:pPr algn="ctr" indent="0" marL="0">
              <a:lnSpc>
                <a:spcPct val="100000"/>
              </a:lnSpc>
              <a:buNone/>
            </a:pPr>
            <a:r>
              <a:rPr lang="en-US" sz="1750" dirty="0">
                <a:solidFill>
                  <a:srgbClr val="4C4C4D"/>
                </a:solidFill>
                <a:latin typeface="Crimson Pro SemiBold" pitchFamily="34" charset="0"/>
                <a:ea typeface="Crimson Pro SemiBold" pitchFamily="34" charset="-122"/>
                <a:cs typeface="Crimson Pro SemiBold" pitchFamily="34" charset="-120"/>
              </a:rPr>
              <a:t>3</a:t>
            </a:r>
            <a:endParaRPr lang="en-US" sz="1750" dirty="0"/>
          </a:p>
        </p:txBody>
      </p:sp>
      <p:sp>
        <p:nvSpPr>
          <p:cNvPr id="42" name="Text 36"/>
          <p:cNvSpPr/>
          <p:nvPr/>
        </p:nvSpPr>
        <p:spPr>
          <a:xfrm>
            <a:off x="8203300" y="4094163"/>
            <a:ext cx="913683" cy="236240"/>
          </a:xfrm>
          <a:prstGeom prst="rect">
            <a:avLst/>
          </a:prstGeom>
          <a:noFill/>
          <a:ln/>
        </p:spPr>
        <p:txBody>
          <a:bodyPr wrap="none" lIns="0" tIns="0" rIns="0" bIns="0" rtlCol="0" anchor="t"/>
          <a:lstStyle/>
          <a:p>
            <a:pPr algn="r" indent="0" marL="0">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Features</a:t>
            </a:r>
            <a:endParaRPr lang="en-US" sz="1450" dirty="0"/>
          </a:p>
        </p:txBody>
      </p:sp>
      <p:sp>
        <p:nvSpPr>
          <p:cNvPr id="43" name="Text 37"/>
          <p:cNvSpPr/>
          <p:nvPr/>
        </p:nvSpPr>
        <p:spPr>
          <a:xfrm>
            <a:off x="8203300" y="4451350"/>
            <a:ext cx="913683" cy="1088430"/>
          </a:xfrm>
          <a:prstGeom prst="rect">
            <a:avLst/>
          </a:prstGeom>
          <a:noFill/>
          <a:ln/>
        </p:spPr>
        <p:txBody>
          <a:bodyPr wrap="square" lIns="0" tIns="0" rIns="0" bIns="0" rtlCol="0" anchor="t">
            <a:normAutofit/>
          </a:bodyPr>
          <a:lstStyle/>
          <a:p>
            <a:pPr algn="r" indent="0" marL="0">
              <a:lnSpc>
                <a:spcPct val="120000"/>
              </a:lnSpc>
              <a:buNone/>
            </a:pPr>
            <a:r>
              <a:rPr lang="en-US" sz="1150" dirty="0">
                <a:solidFill>
                  <a:srgbClr val="4C4C4D"/>
                </a:solidFill>
                <a:latin typeface="Heebo" pitchFamily="34" charset="0"/>
                <a:ea typeface="Heebo" pitchFamily="34" charset="-122"/>
                <a:cs typeface="Heebo" pitchFamily="34" charset="-120"/>
              </a:rPr>
              <a:t>Admin Dashboard, Payment Gateway, Fullstack</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171050" y="513060"/>
            <a:ext cx="1044549" cy="324247"/>
          </a:xfrm>
          <a:prstGeom prst="roundRect">
            <a:avLst>
              <a:gd name="adj" fmla="val 6340"/>
            </a:avLst>
          </a:prstGeom>
          <a:noFill/>
          <a:ln w="6350">
            <a:solidFill>
              <a:srgbClr val="2150FE"/>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0088" y="606623"/>
            <a:ext cx="137018" cy="137021"/>
          </a:xfrm>
          <a:prstGeom prst="rect">
            <a:avLst/>
          </a:prstGeom>
        </p:spPr>
      </p:pic>
      <p:sp>
        <p:nvSpPr>
          <p:cNvPr id="4" name="Text 1"/>
          <p:cNvSpPr/>
          <p:nvPr/>
        </p:nvSpPr>
        <p:spPr>
          <a:xfrm>
            <a:off x="1485565" y="570706"/>
            <a:ext cx="1230579" cy="208955"/>
          </a:xfrm>
          <a:prstGeom prst="rect">
            <a:avLst/>
          </a:prstGeom>
          <a:noFill/>
          <a:ln/>
        </p:spPr>
        <p:txBody>
          <a:bodyPr wrap="none" lIns="0" tIns="0" rIns="0" bIns="0" rtlCol="0" anchor="t"/>
          <a:lstStyle/>
          <a:p>
            <a:pPr algn="l" indent="0" marL="0">
              <a:lnSpc>
                <a:spcPct val="127000"/>
              </a:lnSpc>
              <a:buNone/>
            </a:pPr>
            <a:r>
              <a:rPr lang="en-US" sz="1050" dirty="0">
                <a:solidFill>
                  <a:srgbClr val="2150FE"/>
                </a:solidFill>
                <a:latin typeface="Heebo" pitchFamily="34" charset="0"/>
                <a:ea typeface="Heebo" pitchFamily="34" charset="-122"/>
                <a:cs typeface="Heebo" pitchFamily="34" charset="-120"/>
              </a:rPr>
              <a:t>KẾT LUẬN</a:t>
            </a:r>
            <a:endParaRPr lang="en-US" sz="1050" dirty="0"/>
          </a:p>
        </p:txBody>
      </p:sp>
      <p:sp>
        <p:nvSpPr>
          <p:cNvPr id="5" name="Text 2"/>
          <p:cNvSpPr/>
          <p:nvPr/>
        </p:nvSpPr>
        <p:spPr>
          <a:xfrm>
            <a:off x="1171050" y="899319"/>
            <a:ext cx="4891957" cy="535285"/>
          </a:xfrm>
          <a:prstGeom prst="rect">
            <a:avLst/>
          </a:prstGeom>
          <a:noFill/>
          <a:ln/>
        </p:spPr>
        <p:txBody>
          <a:bodyPr wrap="none" lIns="0" tIns="0" rIns="0" bIns="0" rtlCol="0" anchor="t"/>
          <a:lstStyle/>
          <a:p>
            <a:pPr algn="l" indent="0" marL="0">
              <a:lnSpc>
                <a:spcPct val="104000"/>
              </a:lnSpc>
              <a:buNone/>
            </a:pPr>
            <a:r>
              <a:rPr lang="en-US" sz="3350" dirty="0">
                <a:solidFill>
                  <a:srgbClr val="152D47"/>
                </a:solidFill>
                <a:latin typeface="Crimson Pro SemiBold" pitchFamily="34" charset="0"/>
                <a:ea typeface="Crimson Pro SemiBold" pitchFamily="34" charset="-122"/>
                <a:cs typeface="Crimson Pro SemiBold" pitchFamily="34" charset="-120"/>
              </a:rPr>
              <a:t>Kết Luận &amp; Cảm Ơn</a:t>
            </a:r>
            <a:endParaRPr lang="en-US" sz="3350" dirty="0"/>
          </a:p>
        </p:txBody>
      </p:sp>
      <p:sp>
        <p:nvSpPr>
          <p:cNvPr id="6" name="Text 3"/>
          <p:cNvSpPr/>
          <p:nvPr/>
        </p:nvSpPr>
        <p:spPr>
          <a:xfrm>
            <a:off x="1171050" y="1667371"/>
            <a:ext cx="9849596" cy="2004715"/>
          </a:xfrm>
          <a:prstGeom prst="rect">
            <a:avLst/>
          </a:prstGeom>
          <a:noFill/>
          <a:ln/>
        </p:spPr>
        <p:txBody>
          <a:bodyPr wrap="square" lIns="0" tIns="0" rIns="0" bIns="0" rtlCol="0" anchor="t"/>
          <a:lstStyle/>
          <a:p>
            <a:pPr algn="l" indent="0" marL="0">
              <a:lnSpc>
                <a:spcPct val="127000"/>
              </a:lnSpc>
              <a:spcAft>
                <a:spcPts val="1350"/>
              </a:spcAft>
              <a:buNone/>
            </a:pPr>
            <a:r>
              <a:rPr lang="en-US" sz="1300" dirty="0">
                <a:solidFill>
                  <a:srgbClr val="4C4C4D"/>
                </a:solidFill>
                <a:latin typeface="Heebo" pitchFamily="34" charset="0"/>
                <a:ea typeface="Heebo" pitchFamily="34" charset="-122"/>
                <a:cs typeface="Heebo" pitchFamily="34" charset="-120"/>
              </a:rPr>
              <a:t>Đồ án đã khẳng định năng lực ứng dụng kiến thức Lập trình JavaScript vào bài toán thực tiễn</a:t>
            </a:r>
            <a:endParaRPr lang="en-US" sz="1300" dirty="0"/>
          </a:p>
          <a:p>
            <a:pPr algn="l" indent="0" marL="0">
              <a:lnSpc>
                <a:spcPct val="127000"/>
              </a:lnSpc>
              <a:spcAft>
                <a:spcPts val="1350"/>
              </a:spcAft>
              <a:buNone/>
            </a:pPr>
            <a:r>
              <a:rPr lang="en-US" sz="1300" dirty="0">
                <a:solidFill>
                  <a:srgbClr val="4C4C4D"/>
                </a:solidFill>
                <a:latin typeface="Heebo" pitchFamily="34" charset="0"/>
                <a:ea typeface="Heebo" pitchFamily="34" charset="-122"/>
                <a:cs typeface="Heebo" pitchFamily="34" charset="-120"/>
              </a:rPr>
              <a:t>Hệ thống Booking Tour hoàn chỉnh, kiến trúc 5 tầng, Zero Framework</a:t>
            </a:r>
            <a:endParaRPr lang="en-US" sz="1300" dirty="0"/>
          </a:p>
          <a:p>
            <a:pPr algn="l" indent="0" marL="0">
              <a:lnSpc>
                <a:spcPct val="127000"/>
              </a:lnSpc>
              <a:spcAft>
                <a:spcPts val="1350"/>
              </a:spcAft>
              <a:buNone/>
            </a:pPr>
            <a:r>
              <a:rPr lang="en-US" sz="1300" dirty="0">
                <a:solidFill>
                  <a:srgbClr val="4C4C4D"/>
                </a:solidFill>
                <a:latin typeface="Heebo" pitchFamily="34" charset="0"/>
                <a:ea typeface="Heebo" pitchFamily="34" charset="-122"/>
                <a:cs typeface="Heebo" pitchFamily="34" charset="-120"/>
              </a:rPr>
              <a:t>Xin chân thành cảm ơn Thầy Trần Minh Hiếu &amp; Thầy Bùi Khắc Ngọc</a:t>
            </a:r>
            <a:endParaRPr lang="en-US" sz="1300" dirty="0"/>
          </a:p>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GitHub: </a:t>
            </a:r>
            <a:pPr algn="l" indent="0" marL="0">
              <a:lnSpc>
                <a:spcPct val="127000"/>
              </a:lnSpc>
              <a:spcAft>
                <a:spcPts val="1350"/>
              </a:spcAft>
              <a:buNone/>
            </a:pPr>
            <a:r>
              <a:rPr lang="en-US" sz="1300" u="sng" dirty="0">
                <a:solidFill>
                  <a:srgbClr val="2150FE"/>
                </a:solidFill>
                <a:latin typeface="Heebo" pitchFamily="34" charset="0"/>
                <a:ea typeface="Heebo" pitchFamily="34" charset="-122"/>
                <a:cs typeface="Heebo"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github.com/anhduc555/TOUR-TRAVEL-MANAGEMENT</a:t>
            </a:r>
            <a:endParaRPr lang="en-US" sz="1300" dirty="0"/>
          </a:p>
          <a:p>
            <a:pPr algn="l" indent="0" marL="0">
              <a:lnSpc>
                <a:spcPct val="127000"/>
              </a:lnSpc>
              <a:buNone/>
            </a:pPr>
            <a:r>
              <a:rPr lang="en-US" sz="1300" dirty="0">
                <a:solidFill>
                  <a:srgbClr val="4C4C4D"/>
                </a:solidFill>
                <a:latin typeface="Heebo" pitchFamily="34" charset="0"/>
                <a:ea typeface="Heebo" pitchFamily="34" charset="-122"/>
                <a:cs typeface="Heebo" pitchFamily="34" charset="-120"/>
              </a:rPr>
              <a:t>Nhóm 10: Lê Anh Đức · Trần Lê Khoa · Vũ Đức Kiên — Tháng 6/2026</a:t>
            </a:r>
            <a:endParaRPr lang="en-US" sz="1300" dirty="0"/>
          </a:p>
        </p:txBody>
      </p:sp>
      <p:sp>
        <p:nvSpPr>
          <p:cNvPr id="7" name="Text 4"/>
          <p:cNvSpPr/>
          <p:nvPr/>
        </p:nvSpPr>
        <p:spPr>
          <a:xfrm>
            <a:off x="1171050" y="3986411"/>
            <a:ext cx="7892257" cy="261243"/>
          </a:xfrm>
          <a:prstGeom prst="rect">
            <a:avLst/>
          </a:prstGeom>
          <a:noFill/>
          <a:ln/>
        </p:spPr>
        <p:txBody>
          <a:bodyPr wrap="none" lIns="0" tIns="0" rIns="0" bIns="0" rtlCol="0" anchor="t"/>
          <a:lstStyle/>
          <a:p>
            <a:pPr algn="l" indent="0" marL="0">
              <a:lnSpc>
                <a:spcPct val="127000"/>
              </a:lnSpc>
              <a:buNone/>
            </a:pPr>
            <a:endParaRPr lang="en-US" sz="1300" dirty="0"/>
          </a:p>
        </p:txBody>
      </p:sp>
      <p:pic>
        <p:nvPicPr>
          <p:cNvPr id="8" name="Image 1" descr="preencoded.png">    </p:cNvPr>
          <p:cNvPicPr>
            <a:picLocks noChangeAspect="1"/>
          </p:cNvPicPr>
          <p:nvPr/>
        </p:nvPicPr>
        <p:blipFill>
          <a:blip r:embed="rId4"/>
          <a:stretch>
            <a:fillRect/>
          </a:stretch>
        </p:blipFill>
        <p:spPr>
          <a:xfrm>
            <a:off x="8877971" y="4021336"/>
            <a:ext cx="2148925" cy="21489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150F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2026-06-11T12:31:36Z</dcterms:created>
  <dcterms:modified xsi:type="dcterms:W3CDTF">2026-06-11T12:31:36Z</dcterms:modified>
</cp:coreProperties>
</file>